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95" r:id="rId7"/>
    <p:sldId id="322" r:id="rId8"/>
    <p:sldId id="314" r:id="rId9"/>
    <p:sldId id="315" r:id="rId10"/>
    <p:sldId id="316" r:id="rId11"/>
    <p:sldId id="318" r:id="rId12"/>
    <p:sldId id="324" r:id="rId13"/>
    <p:sldId id="338" r:id="rId14"/>
    <p:sldId id="319" r:id="rId15"/>
    <p:sldId id="320" r:id="rId16"/>
    <p:sldId id="330" r:id="rId17"/>
    <p:sldId id="321" r:id="rId18"/>
    <p:sldId id="326" r:id="rId19"/>
    <p:sldId id="339" r:id="rId20"/>
    <p:sldId id="327" r:id="rId21"/>
    <p:sldId id="331" r:id="rId22"/>
    <p:sldId id="329" r:id="rId23"/>
    <p:sldId id="334" r:id="rId24"/>
    <p:sldId id="340" r:id="rId25"/>
    <p:sldId id="332" r:id="rId26"/>
    <p:sldId id="333" r:id="rId27"/>
    <p:sldId id="337" r:id="rId28"/>
    <p:sldId id="284" r:id="rId29"/>
  </p:sldIdLst>
  <p:sldSz cx="12192000" cy="6858000"/>
  <p:notesSz cx="6858000" cy="9144000"/>
  <p:embeddedFontLst>
    <p:embeddedFont>
      <p:font typeface="Arial Black" panose="020B0A04020102020204" pitchFamily="34" charset="0"/>
      <p:bold r:id="rId31"/>
    </p:embeddedFont>
    <p:embeddedFont>
      <p:font typeface="Cambria Math" panose="02040503050406030204" pitchFamily="18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Q1xXRAqFcrv9UOBD5WSIIojR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6D11E4-C3FA-4688-95FB-FC74C53831E7}">
  <a:tblStyle styleId="{646D11E4-C3FA-4688-95FB-FC74C53831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44868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3308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F0E72806-F851-F189-A3E7-13C437D5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2961902D-7DEA-60F8-704A-2F860FF99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93120D66-2372-297B-93FD-3610360F1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4696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2CC5D798-4092-DA02-EB3D-BFE2D16C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B9CB5ED3-7314-C83A-1131-484C94782D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7AEEC7F9-E8F7-85D0-D366-13ADDD895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8631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F622C99-4481-5C05-08F6-AE326C7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E1D4DA75-3A91-0055-333F-0F5C26F42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4ABDDF28-8A87-F17C-2C1E-F79F10238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900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F2B10314-1026-7644-68D2-840CC7AA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A2DBA173-7086-F4AA-140D-2A8500603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C30F342A-7107-29EB-D524-9C4ABDB16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4193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77C4F8C-9A28-AAF4-A659-99C7B48F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CF6A9D86-5DCC-B121-239F-068E24FBC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1460B93E-B362-6609-0235-BE4CB43AE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6095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77C4F8C-9A28-AAF4-A659-99C7B48F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CF6A9D86-5DCC-B121-239F-068E24FBC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1460B93E-B362-6609-0235-BE4CB43AE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434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77C4F8C-9A28-AAF4-A659-99C7B48F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CF6A9D86-5DCC-B121-239F-068E24FBC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1460B93E-B362-6609-0235-BE4CB43AE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232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1369A765-F341-AB67-E902-E41E309A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E0016D68-77BB-869C-292C-51C9E30FD8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6B144994-81B3-BCC7-7F3C-9A7C8EA18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616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E3647877-4594-C0A6-5D64-6D220FE3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DA03B212-F498-366A-0528-F362319C1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DA9D3337-B55F-9BCD-1B43-7B5EF77FD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90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01348AA0-E10D-4126-A77E-9F941C18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52285657-A770-FFDE-B5F3-4356E5298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F3A0A42D-7B8F-B608-EF63-83907A835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5101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FF4B5C4-49DE-0D4C-01D2-1C28EB62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A0184C07-07B0-65F3-F5C3-C36DCE2E2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B537C57A-B9F2-4050-2B5E-7405CE951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496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FF4B5C4-49DE-0D4C-01D2-1C28EB62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A0184C07-07B0-65F3-F5C3-C36DCE2E2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B537C57A-B9F2-4050-2B5E-7405CE951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0652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414B0E6E-9488-B8F6-CE93-41A5ABE0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B4B5C8CA-BB8D-7C1A-FB89-5B472B6F8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F1FECF87-13EA-2344-7BFB-DDBF61EBE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300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140F238A-E8F3-6C5A-8875-A4F4340C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5BBEB692-351D-E010-DF7C-9A256AD84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AF6BEF08-1C80-322C-A6F9-EF5A60730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9672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E2D6D6F3-CA86-305D-ED8D-A835F66E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B4C14CF9-11CA-C6C9-13BB-DD29DD8D0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0DBF39BF-9236-C44E-0DA3-751C353DB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827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BBC8833E-CCB6-E8D2-0BFD-5211BDB8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312A0842-39A3-E3F7-02D5-D9113D8E8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62E3F42D-AB5C-3DEE-787B-40D6E203A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4594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BBC8833E-CCB6-E8D2-0BFD-5211BDB8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312A0842-39A3-E3F7-02D5-D9113D8E8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62E3F42D-AB5C-3DEE-787B-40D6E203A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98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4672BA1C-00D0-B134-CF62-394514DF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1E025D8D-3640-7359-4341-A0F083B34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4CFD000C-F089-A6B4-EB84-15304BEC31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202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9C0A57E6-6290-5441-0F05-500D9220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65F76CE4-DCEA-98AB-2F86-B184A420B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id="{F6140E0B-74F3-3D8A-E35C-20855B0B7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0273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24B51BB4-FCBA-B2DE-DFFB-90D2E0B4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>
            <a:extLst>
              <a:ext uri="{FF2B5EF4-FFF2-40B4-BE49-F238E27FC236}">
                <a16:creationId xmlns:a16="http://schemas.microsoft.com/office/drawing/2014/main" id="{FF8BFA17-388D-584C-A48A-0C0D59760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0:notes">
            <a:extLst>
              <a:ext uri="{FF2B5EF4-FFF2-40B4-BE49-F238E27FC236}">
                <a16:creationId xmlns:a16="http://schemas.microsoft.com/office/drawing/2014/main" id="{5DC34AB8-0EF1-F65A-49CC-43971234D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7830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titolo">
  <p:cSld name="1_Diapositiva titol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>
            <a:off x="0" y="0"/>
            <a:ext cx="12192000" cy="1847850"/>
          </a:xfrm>
          <a:prstGeom prst="rect">
            <a:avLst/>
          </a:prstGeom>
          <a:solidFill>
            <a:srgbClr val="1A4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14;p13"/>
          <p:cNvGrpSpPr/>
          <p:nvPr/>
        </p:nvGrpSpPr>
        <p:grpSpPr>
          <a:xfrm>
            <a:off x="64010" y="1654176"/>
            <a:ext cx="12048863" cy="180000"/>
            <a:chOff x="1218340" y="275867"/>
            <a:chExt cx="17715122" cy="567843"/>
          </a:xfrm>
        </p:grpSpPr>
        <p:cxnSp>
          <p:nvCxnSpPr>
            <p:cNvPr id="15" name="Google Shape;15;p13"/>
            <p:cNvCxnSpPr/>
            <p:nvPr/>
          </p:nvCxnSpPr>
          <p:spPr>
            <a:xfrm>
              <a:off x="12183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13"/>
            <p:cNvCxnSpPr/>
            <p:nvPr/>
          </p:nvCxnSpPr>
          <p:spPr>
            <a:xfrm>
              <a:off x="13672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13"/>
            <p:cNvCxnSpPr/>
            <p:nvPr/>
          </p:nvCxnSpPr>
          <p:spPr>
            <a:xfrm>
              <a:off x="15160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13"/>
            <p:cNvCxnSpPr/>
            <p:nvPr/>
          </p:nvCxnSpPr>
          <p:spPr>
            <a:xfrm>
              <a:off x="16649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13"/>
            <p:cNvCxnSpPr/>
            <p:nvPr/>
          </p:nvCxnSpPr>
          <p:spPr>
            <a:xfrm>
              <a:off x="18138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13"/>
            <p:cNvCxnSpPr/>
            <p:nvPr/>
          </p:nvCxnSpPr>
          <p:spPr>
            <a:xfrm>
              <a:off x="19626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13"/>
            <p:cNvCxnSpPr/>
            <p:nvPr/>
          </p:nvCxnSpPr>
          <p:spPr>
            <a:xfrm>
              <a:off x="21115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13"/>
            <p:cNvCxnSpPr/>
            <p:nvPr/>
          </p:nvCxnSpPr>
          <p:spPr>
            <a:xfrm>
              <a:off x="22604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24092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25581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13"/>
            <p:cNvCxnSpPr/>
            <p:nvPr/>
          </p:nvCxnSpPr>
          <p:spPr>
            <a:xfrm>
              <a:off x="27070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3"/>
            <p:cNvCxnSpPr/>
            <p:nvPr/>
          </p:nvCxnSpPr>
          <p:spPr>
            <a:xfrm>
              <a:off x="28558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13"/>
            <p:cNvCxnSpPr/>
            <p:nvPr/>
          </p:nvCxnSpPr>
          <p:spPr>
            <a:xfrm>
              <a:off x="30047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13"/>
            <p:cNvCxnSpPr/>
            <p:nvPr/>
          </p:nvCxnSpPr>
          <p:spPr>
            <a:xfrm>
              <a:off x="31536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13"/>
            <p:cNvCxnSpPr/>
            <p:nvPr/>
          </p:nvCxnSpPr>
          <p:spPr>
            <a:xfrm>
              <a:off x="33024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13"/>
            <p:cNvCxnSpPr/>
            <p:nvPr/>
          </p:nvCxnSpPr>
          <p:spPr>
            <a:xfrm>
              <a:off x="34513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13"/>
            <p:cNvCxnSpPr/>
            <p:nvPr/>
          </p:nvCxnSpPr>
          <p:spPr>
            <a:xfrm>
              <a:off x="36002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13"/>
            <p:cNvCxnSpPr/>
            <p:nvPr/>
          </p:nvCxnSpPr>
          <p:spPr>
            <a:xfrm>
              <a:off x="37490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13"/>
            <p:cNvCxnSpPr/>
            <p:nvPr/>
          </p:nvCxnSpPr>
          <p:spPr>
            <a:xfrm>
              <a:off x="38979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13"/>
            <p:cNvCxnSpPr/>
            <p:nvPr/>
          </p:nvCxnSpPr>
          <p:spPr>
            <a:xfrm>
              <a:off x="404681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13"/>
            <p:cNvCxnSpPr/>
            <p:nvPr/>
          </p:nvCxnSpPr>
          <p:spPr>
            <a:xfrm>
              <a:off x="419568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13"/>
            <p:cNvCxnSpPr/>
            <p:nvPr/>
          </p:nvCxnSpPr>
          <p:spPr>
            <a:xfrm>
              <a:off x="434454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13"/>
            <p:cNvCxnSpPr/>
            <p:nvPr/>
          </p:nvCxnSpPr>
          <p:spPr>
            <a:xfrm>
              <a:off x="449341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38;p13"/>
            <p:cNvCxnSpPr/>
            <p:nvPr/>
          </p:nvCxnSpPr>
          <p:spPr>
            <a:xfrm>
              <a:off x="464228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39;p13"/>
            <p:cNvCxnSpPr/>
            <p:nvPr/>
          </p:nvCxnSpPr>
          <p:spPr>
            <a:xfrm>
              <a:off x="479114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40;p13"/>
            <p:cNvCxnSpPr/>
            <p:nvPr/>
          </p:nvCxnSpPr>
          <p:spPr>
            <a:xfrm>
              <a:off x="494001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" name="Google Shape;41;p13"/>
            <p:cNvCxnSpPr/>
            <p:nvPr/>
          </p:nvCxnSpPr>
          <p:spPr>
            <a:xfrm>
              <a:off x="508888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" name="Google Shape;42;p13"/>
            <p:cNvCxnSpPr/>
            <p:nvPr/>
          </p:nvCxnSpPr>
          <p:spPr>
            <a:xfrm>
              <a:off x="523774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" name="Google Shape;43;p13"/>
            <p:cNvCxnSpPr/>
            <p:nvPr/>
          </p:nvCxnSpPr>
          <p:spPr>
            <a:xfrm>
              <a:off x="538661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13"/>
            <p:cNvCxnSpPr/>
            <p:nvPr/>
          </p:nvCxnSpPr>
          <p:spPr>
            <a:xfrm>
              <a:off x="553548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13"/>
            <p:cNvCxnSpPr/>
            <p:nvPr/>
          </p:nvCxnSpPr>
          <p:spPr>
            <a:xfrm>
              <a:off x="568435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13"/>
            <p:cNvCxnSpPr/>
            <p:nvPr/>
          </p:nvCxnSpPr>
          <p:spPr>
            <a:xfrm>
              <a:off x="583321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13"/>
            <p:cNvCxnSpPr/>
            <p:nvPr/>
          </p:nvCxnSpPr>
          <p:spPr>
            <a:xfrm>
              <a:off x="598208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13"/>
            <p:cNvCxnSpPr/>
            <p:nvPr/>
          </p:nvCxnSpPr>
          <p:spPr>
            <a:xfrm>
              <a:off x="613095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13"/>
            <p:cNvCxnSpPr/>
            <p:nvPr/>
          </p:nvCxnSpPr>
          <p:spPr>
            <a:xfrm>
              <a:off x="627981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13"/>
            <p:cNvCxnSpPr/>
            <p:nvPr/>
          </p:nvCxnSpPr>
          <p:spPr>
            <a:xfrm>
              <a:off x="642868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13"/>
            <p:cNvCxnSpPr/>
            <p:nvPr/>
          </p:nvCxnSpPr>
          <p:spPr>
            <a:xfrm>
              <a:off x="657755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13"/>
            <p:cNvCxnSpPr/>
            <p:nvPr/>
          </p:nvCxnSpPr>
          <p:spPr>
            <a:xfrm>
              <a:off x="672641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687528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702415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717302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732188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747075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61962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776848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791735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806622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821508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836395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851282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866169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881055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895942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13"/>
            <p:cNvCxnSpPr/>
            <p:nvPr/>
          </p:nvCxnSpPr>
          <p:spPr>
            <a:xfrm>
              <a:off x="910829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13"/>
            <p:cNvCxnSpPr/>
            <p:nvPr/>
          </p:nvCxnSpPr>
          <p:spPr>
            <a:xfrm>
              <a:off x="925715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3"/>
            <p:cNvCxnSpPr/>
            <p:nvPr/>
          </p:nvCxnSpPr>
          <p:spPr>
            <a:xfrm>
              <a:off x="940602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13"/>
            <p:cNvCxnSpPr/>
            <p:nvPr/>
          </p:nvCxnSpPr>
          <p:spPr>
            <a:xfrm>
              <a:off x="955489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2" name="Google Shape;72;p13"/>
            <p:cNvCxnSpPr/>
            <p:nvPr/>
          </p:nvCxnSpPr>
          <p:spPr>
            <a:xfrm>
              <a:off x="970375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" name="Google Shape;73;p13"/>
            <p:cNvCxnSpPr/>
            <p:nvPr/>
          </p:nvCxnSpPr>
          <p:spPr>
            <a:xfrm>
              <a:off x="985262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" name="Google Shape;74;p13"/>
            <p:cNvCxnSpPr/>
            <p:nvPr/>
          </p:nvCxnSpPr>
          <p:spPr>
            <a:xfrm>
              <a:off x="1000149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5" name="Google Shape;75;p13"/>
            <p:cNvCxnSpPr/>
            <p:nvPr/>
          </p:nvCxnSpPr>
          <p:spPr>
            <a:xfrm>
              <a:off x="1015036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13"/>
            <p:cNvCxnSpPr/>
            <p:nvPr/>
          </p:nvCxnSpPr>
          <p:spPr>
            <a:xfrm>
              <a:off x="1029922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13"/>
            <p:cNvCxnSpPr/>
            <p:nvPr/>
          </p:nvCxnSpPr>
          <p:spPr>
            <a:xfrm>
              <a:off x="1044809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13"/>
            <p:cNvCxnSpPr/>
            <p:nvPr/>
          </p:nvCxnSpPr>
          <p:spPr>
            <a:xfrm>
              <a:off x="1059696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3"/>
            <p:cNvCxnSpPr/>
            <p:nvPr/>
          </p:nvCxnSpPr>
          <p:spPr>
            <a:xfrm>
              <a:off x="1074582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3"/>
            <p:cNvCxnSpPr/>
            <p:nvPr/>
          </p:nvCxnSpPr>
          <p:spPr>
            <a:xfrm>
              <a:off x="1089469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3"/>
            <p:cNvCxnSpPr/>
            <p:nvPr/>
          </p:nvCxnSpPr>
          <p:spPr>
            <a:xfrm>
              <a:off x="110435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3"/>
            <p:cNvCxnSpPr/>
            <p:nvPr/>
          </p:nvCxnSpPr>
          <p:spPr>
            <a:xfrm>
              <a:off x="1119242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3"/>
            <p:cNvCxnSpPr/>
            <p:nvPr/>
          </p:nvCxnSpPr>
          <p:spPr>
            <a:xfrm>
              <a:off x="1134129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3"/>
            <p:cNvCxnSpPr/>
            <p:nvPr/>
          </p:nvCxnSpPr>
          <p:spPr>
            <a:xfrm>
              <a:off x="1149016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3"/>
            <p:cNvCxnSpPr/>
            <p:nvPr/>
          </p:nvCxnSpPr>
          <p:spPr>
            <a:xfrm>
              <a:off x="1163903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3"/>
            <p:cNvCxnSpPr/>
            <p:nvPr/>
          </p:nvCxnSpPr>
          <p:spPr>
            <a:xfrm>
              <a:off x="1178789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3"/>
            <p:cNvCxnSpPr/>
            <p:nvPr/>
          </p:nvCxnSpPr>
          <p:spPr>
            <a:xfrm>
              <a:off x="1193676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3"/>
            <p:cNvCxnSpPr/>
            <p:nvPr/>
          </p:nvCxnSpPr>
          <p:spPr>
            <a:xfrm>
              <a:off x="1208563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3"/>
            <p:cNvCxnSpPr/>
            <p:nvPr/>
          </p:nvCxnSpPr>
          <p:spPr>
            <a:xfrm>
              <a:off x="1223449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3"/>
            <p:cNvCxnSpPr/>
            <p:nvPr/>
          </p:nvCxnSpPr>
          <p:spPr>
            <a:xfrm>
              <a:off x="1238336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3"/>
            <p:cNvCxnSpPr/>
            <p:nvPr/>
          </p:nvCxnSpPr>
          <p:spPr>
            <a:xfrm>
              <a:off x="1253223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3"/>
            <p:cNvCxnSpPr/>
            <p:nvPr/>
          </p:nvCxnSpPr>
          <p:spPr>
            <a:xfrm>
              <a:off x="1268109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1282996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3"/>
            <p:cNvCxnSpPr/>
            <p:nvPr/>
          </p:nvCxnSpPr>
          <p:spPr>
            <a:xfrm>
              <a:off x="1297883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3"/>
            <p:cNvCxnSpPr/>
            <p:nvPr/>
          </p:nvCxnSpPr>
          <p:spPr>
            <a:xfrm>
              <a:off x="1312770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3"/>
            <p:cNvCxnSpPr/>
            <p:nvPr/>
          </p:nvCxnSpPr>
          <p:spPr>
            <a:xfrm>
              <a:off x="1327656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1342543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3"/>
            <p:cNvCxnSpPr/>
            <p:nvPr/>
          </p:nvCxnSpPr>
          <p:spPr>
            <a:xfrm>
              <a:off x="1357430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3"/>
            <p:cNvCxnSpPr/>
            <p:nvPr/>
          </p:nvCxnSpPr>
          <p:spPr>
            <a:xfrm>
              <a:off x="1372316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3"/>
            <p:cNvCxnSpPr/>
            <p:nvPr/>
          </p:nvCxnSpPr>
          <p:spPr>
            <a:xfrm>
              <a:off x="1387203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3"/>
            <p:cNvCxnSpPr/>
            <p:nvPr/>
          </p:nvCxnSpPr>
          <p:spPr>
            <a:xfrm>
              <a:off x="1402090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13"/>
            <p:cNvCxnSpPr/>
            <p:nvPr/>
          </p:nvCxnSpPr>
          <p:spPr>
            <a:xfrm>
              <a:off x="1416976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13"/>
            <p:cNvCxnSpPr/>
            <p:nvPr/>
          </p:nvCxnSpPr>
          <p:spPr>
            <a:xfrm>
              <a:off x="1431863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13"/>
            <p:cNvCxnSpPr/>
            <p:nvPr/>
          </p:nvCxnSpPr>
          <p:spPr>
            <a:xfrm>
              <a:off x="1446750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13"/>
            <p:cNvCxnSpPr/>
            <p:nvPr/>
          </p:nvCxnSpPr>
          <p:spPr>
            <a:xfrm>
              <a:off x="1461637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13"/>
            <p:cNvCxnSpPr/>
            <p:nvPr/>
          </p:nvCxnSpPr>
          <p:spPr>
            <a:xfrm>
              <a:off x="1476523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13"/>
            <p:cNvCxnSpPr/>
            <p:nvPr/>
          </p:nvCxnSpPr>
          <p:spPr>
            <a:xfrm>
              <a:off x="1491410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13"/>
            <p:cNvCxnSpPr/>
            <p:nvPr/>
          </p:nvCxnSpPr>
          <p:spPr>
            <a:xfrm>
              <a:off x="1506297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13"/>
            <p:cNvCxnSpPr/>
            <p:nvPr/>
          </p:nvCxnSpPr>
          <p:spPr>
            <a:xfrm>
              <a:off x="1521183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13"/>
            <p:cNvCxnSpPr/>
            <p:nvPr/>
          </p:nvCxnSpPr>
          <p:spPr>
            <a:xfrm>
              <a:off x="1536070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13"/>
            <p:cNvCxnSpPr/>
            <p:nvPr/>
          </p:nvCxnSpPr>
          <p:spPr>
            <a:xfrm>
              <a:off x="1550957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13"/>
            <p:cNvCxnSpPr/>
            <p:nvPr/>
          </p:nvCxnSpPr>
          <p:spPr>
            <a:xfrm>
              <a:off x="1565843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13"/>
            <p:cNvCxnSpPr/>
            <p:nvPr/>
          </p:nvCxnSpPr>
          <p:spPr>
            <a:xfrm>
              <a:off x="1580730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13"/>
            <p:cNvCxnSpPr/>
            <p:nvPr/>
          </p:nvCxnSpPr>
          <p:spPr>
            <a:xfrm>
              <a:off x="1595617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13"/>
            <p:cNvCxnSpPr/>
            <p:nvPr/>
          </p:nvCxnSpPr>
          <p:spPr>
            <a:xfrm>
              <a:off x="161050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13"/>
            <p:cNvCxnSpPr/>
            <p:nvPr/>
          </p:nvCxnSpPr>
          <p:spPr>
            <a:xfrm>
              <a:off x="162539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13"/>
            <p:cNvCxnSpPr/>
            <p:nvPr/>
          </p:nvCxnSpPr>
          <p:spPr>
            <a:xfrm>
              <a:off x="164027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13"/>
            <p:cNvCxnSpPr/>
            <p:nvPr/>
          </p:nvCxnSpPr>
          <p:spPr>
            <a:xfrm>
              <a:off x="165516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13"/>
            <p:cNvCxnSpPr/>
            <p:nvPr/>
          </p:nvCxnSpPr>
          <p:spPr>
            <a:xfrm>
              <a:off x="167005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13"/>
            <p:cNvCxnSpPr/>
            <p:nvPr/>
          </p:nvCxnSpPr>
          <p:spPr>
            <a:xfrm>
              <a:off x="168493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13"/>
            <p:cNvCxnSpPr/>
            <p:nvPr/>
          </p:nvCxnSpPr>
          <p:spPr>
            <a:xfrm>
              <a:off x="169982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13"/>
            <p:cNvCxnSpPr/>
            <p:nvPr/>
          </p:nvCxnSpPr>
          <p:spPr>
            <a:xfrm>
              <a:off x="171471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13"/>
            <p:cNvCxnSpPr/>
            <p:nvPr/>
          </p:nvCxnSpPr>
          <p:spPr>
            <a:xfrm>
              <a:off x="172959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13"/>
            <p:cNvCxnSpPr/>
            <p:nvPr/>
          </p:nvCxnSpPr>
          <p:spPr>
            <a:xfrm>
              <a:off x="174448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175937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177425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13"/>
            <p:cNvCxnSpPr/>
            <p:nvPr/>
          </p:nvCxnSpPr>
          <p:spPr>
            <a:xfrm>
              <a:off x="178914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13"/>
            <p:cNvCxnSpPr/>
            <p:nvPr/>
          </p:nvCxnSpPr>
          <p:spPr>
            <a:xfrm>
              <a:off x="180403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13"/>
            <p:cNvCxnSpPr/>
            <p:nvPr/>
          </p:nvCxnSpPr>
          <p:spPr>
            <a:xfrm>
              <a:off x="181891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13"/>
            <p:cNvCxnSpPr/>
            <p:nvPr/>
          </p:nvCxnSpPr>
          <p:spPr>
            <a:xfrm>
              <a:off x="183380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184869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p13"/>
            <p:cNvCxnSpPr/>
            <p:nvPr/>
          </p:nvCxnSpPr>
          <p:spPr>
            <a:xfrm>
              <a:off x="186357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13"/>
            <p:cNvCxnSpPr/>
            <p:nvPr/>
          </p:nvCxnSpPr>
          <p:spPr>
            <a:xfrm>
              <a:off x="187846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134;p13"/>
            <p:cNvCxnSpPr/>
            <p:nvPr/>
          </p:nvCxnSpPr>
          <p:spPr>
            <a:xfrm>
              <a:off x="189334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5" name="Google Shape;135;p13" descr="Y:\IMMAGINE _COORDINATA_2014\PPT\loghi_PNG\01_polimi_centrato_BN_negativo_out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76345" y="274003"/>
            <a:ext cx="1442830" cy="110617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272715" y="6008488"/>
            <a:ext cx="8418095" cy="61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800"/>
              <a:buFont typeface="Arial Black"/>
              <a:buNone/>
            </a:pPr>
            <a:r>
              <a:rPr lang="it-IT" sz="1800" b="1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057233 – Aerodynamics of Transport Vehicles</a:t>
            </a:r>
            <a:endParaRPr sz="1800" b="1" i="0" u="none" strike="noStrike" cap="small" dirty="0">
              <a:solidFill>
                <a:srgbClr val="1A415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800"/>
              <a:buFont typeface="Arial Black"/>
              <a:buNone/>
            </a:pPr>
            <a:r>
              <a:rPr lang="it-IT" sz="1800" b="1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062181 – Vehicle Aerodynamics</a:t>
            </a:r>
            <a:endParaRPr sz="1800" b="1" i="0" u="none" strike="noStrike" cap="small" dirty="0">
              <a:solidFill>
                <a:srgbClr val="1A415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400"/>
              <a:buFont typeface="Arial Black"/>
              <a:buNone/>
            </a:pPr>
            <a:r>
              <a:rPr lang="it-IT" sz="1400" b="0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	Prof. Zanotti – Prof. Schito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272717" y="6426200"/>
            <a:ext cx="11646568" cy="33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it-IT" sz="1400" b="1" i="0" u="none" strike="noStrike" cap="small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Academic Year 2024/2025</a:t>
            </a:r>
            <a:endParaRPr sz="11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contenuto">
  <p:cSld name="1_Titolo e contenuto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10983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0" y="6229351"/>
            <a:ext cx="12192000" cy="638175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161506" y="6511432"/>
            <a:ext cx="3664580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Name</a:t>
            </a:r>
            <a:endParaRPr dirty="0"/>
          </a:p>
        </p:txBody>
      </p:sp>
      <p:sp>
        <p:nvSpPr>
          <p:cNvPr id="143" name="Google Shape;143;p14"/>
          <p:cNvSpPr txBox="1"/>
          <p:nvPr/>
        </p:nvSpPr>
        <p:spPr>
          <a:xfrm>
            <a:off x="4393324" y="6236938"/>
            <a:ext cx="3405352" cy="6232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Aerodynamics of Transport Vehicles</a:t>
            </a:r>
            <a:endParaRPr sz="1200" b="1" i="0" u="none" strike="noStrike" cap="small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Vehicle Aerodynamics</a:t>
            </a:r>
            <a:endParaRPr sz="1200" b="1" i="0" u="none" strike="noStrike" cap="small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lang="it-IT" sz="105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2024/2025</a:t>
            </a:r>
            <a:endParaRPr dirty="0"/>
          </a:p>
        </p:txBody>
      </p:sp>
      <p:sp>
        <p:nvSpPr>
          <p:cNvPr id="144" name="Google Shape;144;p14"/>
          <p:cNvSpPr txBox="1"/>
          <p:nvPr/>
        </p:nvSpPr>
        <p:spPr>
          <a:xfrm>
            <a:off x="11041653" y="35979"/>
            <a:ext cx="1102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i="0" u="none" strike="noStrike" cap="non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fld id="{00000000-1234-1234-1234-123412341234}" type="slidenum">
              <a:rPr lang="it-IT" sz="1600" b="0" i="0" u="none" strike="noStrike" cap="non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600" b="0" i="0" u="none" strike="noStrike" cap="none" dirty="0">
              <a:solidFill>
                <a:srgbClr val="003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4" descr="Y:\IMMAGINE _COORDINATA_2014\PPT\loghi_PNG\03_Polimi_bandiera-1riga_BN_negativo_out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642" y="6294425"/>
            <a:ext cx="2715128" cy="512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85793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/>
          <p:nvPr/>
        </p:nvSpPr>
        <p:spPr>
          <a:xfrm>
            <a:off x="2490649" y="2889477"/>
            <a:ext cx="7062651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Limit cycle oscillations in Golan</a:t>
            </a:r>
            <a:r>
              <a:rPr lang="en-US" sz="28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d wing with actuator free play</a:t>
            </a: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E57E00-F026-F8F5-CAA0-18880DD30626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1EB5B2-B071-4B1A-5E22-FAE36DEEA91D}"/>
              </a:ext>
            </a:extLst>
          </p:cNvPr>
          <p:cNvSpPr/>
          <p:nvPr/>
        </p:nvSpPr>
        <p:spPr>
          <a:xfrm>
            <a:off x="5587351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2490650" y="5130151"/>
            <a:ext cx="7062651" cy="14622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038900" y="4864787"/>
            <a:ext cx="396615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2" algn="ctr">
              <a:buSzPct val="80000"/>
            </a:pPr>
            <a:r>
              <a:rPr lang="en-US" sz="2000" b="1" cap="small" dirty="0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Francisco Javier Martín </a:t>
            </a:r>
            <a:r>
              <a:rPr lang="en-US" sz="2000" b="1" cap="small" dirty="0" err="1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López</a:t>
            </a:r>
            <a:endParaRPr lang="en-US" sz="2000" b="1" cap="small" dirty="0">
              <a:solidFill>
                <a:schemeClr val="dk2"/>
              </a:solidFill>
              <a:latin typeface="+mj-lt"/>
              <a:ea typeface="Arial Black"/>
              <a:cs typeface="Arial Black"/>
            </a:endParaRPr>
          </a:p>
          <a:p>
            <a:pPr lvl="2" algn="ctr">
              <a:buSzPct val="80000"/>
            </a:pPr>
            <a:r>
              <a:rPr lang="en-US" sz="2000" b="1" cap="small" dirty="0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Alejandro Rivera Míguez</a:t>
            </a:r>
          </a:p>
          <a:p>
            <a:pPr lvl="2" algn="ctr">
              <a:buSzPct val="80000"/>
            </a:pPr>
            <a:r>
              <a:rPr lang="en-US" sz="2000" b="1" cap="small" dirty="0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Alberto </a:t>
            </a:r>
            <a:r>
              <a:rPr lang="en-US" sz="2000" b="1" cap="small" dirty="0" err="1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Rivero</a:t>
            </a:r>
            <a:r>
              <a:rPr lang="en-US" sz="2000" b="1" cap="small" dirty="0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 </a:t>
            </a:r>
            <a:r>
              <a:rPr lang="en-US" sz="2000" b="1" cap="small" dirty="0" err="1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García</a:t>
            </a:r>
            <a:endParaRPr lang="en-US" sz="2000" b="1" cap="small" dirty="0">
              <a:solidFill>
                <a:schemeClr val="dk2"/>
              </a:solidFill>
              <a:latin typeface="+mj-lt"/>
              <a:ea typeface="Arial Black"/>
              <a:cs typeface="Arial Black"/>
            </a:endParaRPr>
          </a:p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4F7627C-6276-34A1-25C6-2CE5F00445DA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ED10FA-EF20-CFAA-4875-4BDFF5805A8A}"/>
              </a:ext>
            </a:extLst>
          </p:cNvPr>
          <p:cNvSpPr/>
          <p:nvPr/>
        </p:nvSpPr>
        <p:spPr>
          <a:xfrm>
            <a:off x="5761522" y="5826315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4264956" y="3714931"/>
            <a:ext cx="3569419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3600" b="1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1BCF9FD-72AB-62D6-3410-9D3ADD28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E4D329B-5C6D-9AFF-418E-DD18EE1DF6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1.1 Introduction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Free Play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2ABE8DD2-2139-7F89-74D0-9E976DE6E23D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8590A1DE-3273-D481-32E2-C18284C26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63" y="2010193"/>
            <a:ext cx="3477637" cy="2680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6CCA050-ACCB-0CBA-9795-6ED0660448F9}"/>
                  </a:ext>
                </a:extLst>
              </p:cNvPr>
              <p:cNvSpPr txBox="1"/>
              <p:nvPr/>
            </p:nvSpPr>
            <p:spPr>
              <a:xfrm>
                <a:off x="438829" y="1489874"/>
                <a:ext cx="7128388" cy="4120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Aileron actuator stiffness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is null in the interval [-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0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].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The resulting non-linearity leads to phenomena that cannot be studied with a linear model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 In particular,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the resulting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hardening causes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Limit Cycle Oscillations. 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Quasi-linearization is used to simplify the non-linearity while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retaining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dependency of the input-output relationship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on some characteristics of the input signal.</a:t>
                </a:r>
                <a:br>
                  <a:rPr lang="en-US" sz="2000" noProof="0" dirty="0">
                    <a:solidFill>
                      <a:schemeClr val="tx1"/>
                    </a:solidFill>
                  </a:rPr>
                </a:b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lvl="2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The result of quasi-linearization is a (generally) complex gain that depends on the characteristics of the </a:t>
                </a:r>
                <a:r>
                  <a:rPr lang="en-US" sz="2000" noProof="0" dirty="0" err="1">
                    <a:solidFill>
                      <a:schemeClr val="tx1"/>
                    </a:solidFill>
                  </a:rPr>
                  <a:t>inpu</a:t>
                </a:r>
                <a:r>
                  <a:rPr lang="en-US" sz="2000" dirty="0">
                    <a:solidFill>
                      <a:schemeClr val="tx1"/>
                    </a:solidFill>
                  </a:rPr>
                  <a:t>t signal. </a:t>
                </a: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CCA050-ACCB-0CBA-9795-6ED066044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29" y="1489874"/>
                <a:ext cx="7128388" cy="4120743"/>
              </a:xfrm>
              <a:prstGeom prst="rect">
                <a:avLst/>
              </a:prstGeom>
              <a:blipFill rotWithShape="0">
                <a:blip r:embed="rId4"/>
                <a:stretch>
                  <a:fillRect l="-342" t="-740" r="-8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60E9AA30-6553-057B-823C-91DFF369D7DB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825C7F8-9B7A-3A30-3271-8832D325A49A}"/>
              </a:ext>
            </a:extLst>
          </p:cNvPr>
          <p:cNvSpPr/>
          <p:nvPr/>
        </p:nvSpPr>
        <p:spPr>
          <a:xfrm>
            <a:off x="8573728" y="3581233"/>
            <a:ext cx="176981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737CD0-EBE4-213F-3E9D-A5E7E8CE0C18}"/>
              </a:ext>
            </a:extLst>
          </p:cNvPr>
          <p:cNvSpPr/>
          <p:nvPr/>
        </p:nvSpPr>
        <p:spPr>
          <a:xfrm>
            <a:off x="9188244" y="3104535"/>
            <a:ext cx="176981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48AE5E-57EB-5889-1C99-759C287C8000}"/>
              </a:ext>
            </a:extLst>
          </p:cNvPr>
          <p:cNvSpPr/>
          <p:nvPr/>
        </p:nvSpPr>
        <p:spPr>
          <a:xfrm>
            <a:off x="10466438" y="2439155"/>
            <a:ext cx="176981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D36B7E8-EFE7-6CDD-735C-C952E154DC3F}"/>
              </a:ext>
            </a:extLst>
          </p:cNvPr>
          <p:cNvSpPr/>
          <p:nvPr/>
        </p:nvSpPr>
        <p:spPr>
          <a:xfrm>
            <a:off x="10102644" y="3503370"/>
            <a:ext cx="176981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D5D1BE5-8A77-5C34-06C5-C5BA5C7250EC}"/>
                  </a:ext>
                </a:extLst>
              </p:cNvPr>
              <p:cNvSpPr txBox="1"/>
              <p:nvPr/>
            </p:nvSpPr>
            <p:spPr>
              <a:xfrm>
                <a:off x="8545525" y="3550247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D5D1BE5-8A77-5C34-06C5-C5BA5C725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525" y="3550247"/>
                <a:ext cx="205184" cy="307777"/>
              </a:xfrm>
              <a:prstGeom prst="rect">
                <a:avLst/>
              </a:prstGeom>
              <a:blipFill>
                <a:blip r:embed="rId5"/>
                <a:stretch>
                  <a:fillRect l="-27273" r="-30303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FA5BD4E-C76C-0530-307B-D6602A90C0EC}"/>
                  </a:ext>
                </a:extLst>
              </p:cNvPr>
              <p:cNvSpPr txBox="1"/>
              <p:nvPr/>
            </p:nvSpPr>
            <p:spPr>
              <a:xfrm>
                <a:off x="9168579" y="3042564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FA5BD4E-C76C-0530-307B-D6602A90C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579" y="3042564"/>
                <a:ext cx="205184" cy="307777"/>
              </a:xfrm>
              <a:prstGeom prst="rect">
                <a:avLst/>
              </a:prstGeom>
              <a:blipFill>
                <a:blip r:embed="rId6"/>
                <a:stretch>
                  <a:fillRect l="-26471" r="-26471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130B23-3E24-AA31-A530-288AA7E59B47}"/>
                  </a:ext>
                </a:extLst>
              </p:cNvPr>
              <p:cNvSpPr txBox="1"/>
              <p:nvPr/>
            </p:nvSpPr>
            <p:spPr>
              <a:xfrm>
                <a:off x="10064608" y="3396358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130B23-3E24-AA31-A530-288AA7E5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608" y="3396358"/>
                <a:ext cx="205184" cy="307777"/>
              </a:xfrm>
              <a:prstGeom prst="rect">
                <a:avLst/>
              </a:prstGeom>
              <a:blipFill>
                <a:blip r:embed="rId7"/>
                <a:stretch>
                  <a:fillRect l="-26471" r="-26471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D2A5982-F0F5-18A8-6716-B945AA7280E9}"/>
                  </a:ext>
                </a:extLst>
              </p:cNvPr>
              <p:cNvSpPr txBox="1"/>
              <p:nvPr/>
            </p:nvSpPr>
            <p:spPr>
              <a:xfrm>
                <a:off x="10427108" y="2377184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D2A5982-F0F5-18A8-6716-B945AA72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108" y="2377184"/>
                <a:ext cx="205184" cy="307777"/>
              </a:xfrm>
              <a:prstGeom prst="rect">
                <a:avLst/>
              </a:prstGeom>
              <a:blipFill>
                <a:blip r:embed="rId8"/>
                <a:stretch>
                  <a:fillRect l="-26471" r="-2647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>
            <a:extLst>
              <a:ext uri="{FF2B5EF4-FFF2-40B4-BE49-F238E27FC236}">
                <a16:creationId xmlns:a16="http://schemas.microsoft.com/office/drawing/2014/main" id="{E49E7B65-17B5-B955-3BC9-B3AC132311D7}"/>
              </a:ext>
            </a:extLst>
          </p:cNvPr>
          <p:cNvSpPr/>
          <p:nvPr/>
        </p:nvSpPr>
        <p:spPr>
          <a:xfrm>
            <a:off x="9168579" y="2010193"/>
            <a:ext cx="280221" cy="551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DF2F97-D00B-A2A4-EC97-DA91A15CC240}"/>
              </a:ext>
            </a:extLst>
          </p:cNvPr>
          <p:cNvSpPr txBox="1"/>
          <p:nvPr/>
        </p:nvSpPr>
        <p:spPr>
          <a:xfrm>
            <a:off x="9168579" y="2144012"/>
            <a:ext cx="374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65153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11D5399A-DB30-43DB-AF2D-FAED5E47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29DCFC84-EF90-5D0D-F687-F4629DB7C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1.2 Introduction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Describing function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3B9C54AD-5F80-C2C3-E7B1-F63F7FE3E76D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AAA594-302A-5044-95B8-0BE378ECEE31}"/>
              </a:ext>
            </a:extLst>
          </p:cNvPr>
          <p:cNvSpPr txBox="1"/>
          <p:nvPr/>
        </p:nvSpPr>
        <p:spPr>
          <a:xfrm>
            <a:off x="384695" y="1367034"/>
            <a:ext cx="1092240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Historically [1], it has been observed that the presence of </a:t>
            </a:r>
            <a:r>
              <a:rPr lang="en-US" sz="2000" b="1" noProof="0" dirty="0">
                <a:solidFill>
                  <a:schemeClr val="tx1"/>
                </a:solidFill>
              </a:rPr>
              <a:t>free-play</a:t>
            </a:r>
            <a:r>
              <a:rPr lang="en-US" sz="2000" noProof="0" dirty="0">
                <a:solidFill>
                  <a:schemeClr val="tx1"/>
                </a:solidFill>
              </a:rPr>
              <a:t> in the aileron results in </a:t>
            </a:r>
            <a:r>
              <a:rPr lang="en-US" sz="2000" b="1" noProof="0" dirty="0">
                <a:solidFill>
                  <a:schemeClr val="tx1"/>
                </a:solidFill>
              </a:rPr>
              <a:t>LCO </a:t>
            </a:r>
            <a:r>
              <a:rPr lang="en-US" sz="2000" noProof="0" dirty="0">
                <a:solidFill>
                  <a:schemeClr val="tx1"/>
                </a:solidFill>
              </a:rPr>
              <a:t>of the wing at certain speeds. A LCO is a constant amplitude oscillation in a system with dissipative forces. 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Quasi-linearization of the free-play was done using the </a:t>
            </a:r>
            <a:r>
              <a:rPr lang="en-US" sz="2000" b="1" noProof="0" dirty="0">
                <a:solidFill>
                  <a:schemeClr val="tx1"/>
                </a:solidFill>
              </a:rPr>
              <a:t>sinusoidal input describing function (SIDF)</a:t>
            </a:r>
            <a:r>
              <a:rPr lang="en-US" sz="2000" noProof="0" dirty="0">
                <a:solidFill>
                  <a:schemeClr val="tx1"/>
                </a:solidFill>
              </a:rPr>
              <a:t>. This describing function is well suited to analyze LCOs in systems with odd non-linearities [2]. 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combination of the DF and the system dynamics could be seen as this feedback system: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0D78F1FB-23FF-7ADF-5FF0-6D3A30CD0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01" y="4387244"/>
            <a:ext cx="5054778" cy="169026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E88A744-16A5-C469-DF16-9BC6288585BF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2290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E13FE89C-DA62-B99D-4B77-D9731660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72135C6A-390A-2FA4-4B44-83E899BB0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1.2 Introduction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Describing function - 2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A9763C76-D47B-7F99-F052-FA7EC120285B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06A720-7703-064F-11B6-2DCD317929A3}"/>
              </a:ext>
            </a:extLst>
          </p:cNvPr>
          <p:cNvSpPr txBox="1"/>
          <p:nvPr/>
        </p:nvSpPr>
        <p:spPr>
          <a:xfrm>
            <a:off x="384694" y="1455524"/>
            <a:ext cx="109224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</a:t>
            </a:r>
            <a:r>
              <a:rPr lang="en-US" sz="2000" b="1" noProof="0" dirty="0">
                <a:solidFill>
                  <a:schemeClr val="tx1"/>
                </a:solidFill>
              </a:rPr>
              <a:t>SIDF</a:t>
            </a:r>
            <a:r>
              <a:rPr lang="en-US" sz="2000" noProof="0" dirty="0">
                <a:solidFill>
                  <a:schemeClr val="tx1"/>
                </a:solidFill>
              </a:rPr>
              <a:t> </a:t>
            </a:r>
            <a:r>
              <a:rPr lang="en-US" sz="2000" b="1" noProof="0" dirty="0">
                <a:solidFill>
                  <a:schemeClr val="tx1"/>
                </a:solidFill>
              </a:rPr>
              <a:t>neglects all higher harmonics</a:t>
            </a:r>
            <a:r>
              <a:rPr lang="en-US" sz="2000" noProof="0" dirty="0">
                <a:solidFill>
                  <a:schemeClr val="tx1"/>
                </a:solidFill>
              </a:rPr>
              <a:t>. Therefore, the approximation will only be good if the system filters out these harmonics.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</a:t>
            </a:r>
            <a:r>
              <a:rPr lang="en-US" sz="2000" b="1" noProof="0" dirty="0">
                <a:solidFill>
                  <a:schemeClr val="tx1"/>
                </a:solidFill>
              </a:rPr>
              <a:t>SIDF</a:t>
            </a:r>
            <a:r>
              <a:rPr lang="en-US" sz="2000" noProof="0" dirty="0">
                <a:solidFill>
                  <a:schemeClr val="tx1"/>
                </a:solidFill>
              </a:rPr>
              <a:t> is computed with the following </a:t>
            </a:r>
            <a:r>
              <a:rPr lang="en-US" sz="2000" b="1" noProof="0" dirty="0">
                <a:solidFill>
                  <a:schemeClr val="tx1"/>
                </a:solidFill>
              </a:rPr>
              <a:t>formula</a:t>
            </a:r>
            <a:r>
              <a:rPr lang="en-US" sz="2000" noProof="0" dirty="0">
                <a:solidFill>
                  <a:schemeClr val="tx1"/>
                </a:solidFill>
              </a:rPr>
              <a:t> [2]: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D9EDD9-13D0-7D69-47CC-BE8647324E6D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4ED0338-ED1D-1743-6B24-BCF08EC13A8B}"/>
                  </a:ext>
                </a:extLst>
              </p:cNvPr>
              <p:cNvSpPr txBox="1"/>
              <p:nvPr/>
            </p:nvSpPr>
            <p:spPr>
              <a:xfrm>
                <a:off x="3431132" y="3768547"/>
                <a:ext cx="5348515" cy="692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func>
                                <m:func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i="0" noProof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func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func>
                                <m:func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i="0" noProof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func>
                            </m:e>
                          </m:d>
                          <m:r>
                            <m:rPr>
                              <m:nor/>
                            </m:rPr>
                            <a:rPr lang="en-US" sz="2000" i="0" noProof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nary>
                      <m:sSup>
                        <m:sSup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sup>
                      </m:sSup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ED0338-ED1D-1743-6B24-BCF08EC13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132" y="3768547"/>
                <a:ext cx="5348515" cy="69204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01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CD3FE057-B3F7-0275-6930-C8A9F7E5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96B1876-63B7-22BB-C849-F502480D6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1.3 Introduction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Describing function - 3</a:t>
            </a:r>
            <a:br>
              <a:rPr lang="en-US" sz="2400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01CB88AC-CC16-0BF4-F595-30E104FB4531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4D9033A-A910-526B-AABE-FB3F73967576}"/>
                  </a:ext>
                </a:extLst>
              </p:cNvPr>
              <p:cNvSpPr txBox="1"/>
              <p:nvPr/>
            </p:nvSpPr>
            <p:spPr>
              <a:xfrm>
                <a:off x="384695" y="1367034"/>
                <a:ext cx="10922402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For the free-play problem,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analytical form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of the describing function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en-US" sz="2000" b="0" noProof="0" dirty="0">
                    <a:solidFill>
                      <a:schemeClr val="tx1"/>
                    </a:solidFill>
                  </a:rPr>
                  <a:t> is given by:</a:t>
                </a: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Since the free-play non-linearity is odd and single-valued the DF has no quadrature component. As a consequence, it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will not affect the phase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of the signal.</a:t>
                </a: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4D9033A-A910-526B-AABE-FB3F73967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367034"/>
                <a:ext cx="10922402" cy="5632311"/>
              </a:xfrm>
              <a:prstGeom prst="rect">
                <a:avLst/>
              </a:prstGeom>
              <a:blipFill rotWithShape="0">
                <a:blip r:embed="rId3"/>
                <a:stretch>
                  <a:fillRect l="-223" t="-433" r="-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34EE90F9-6144-6C8D-A2E5-8001B983751D}"/>
                  </a:ext>
                </a:extLst>
              </p:cNvPr>
              <p:cNvSpPr txBox="1"/>
              <p:nvPr/>
            </p:nvSpPr>
            <p:spPr>
              <a:xfrm>
                <a:off x="4799488" y="2359059"/>
                <a:ext cx="2118400" cy="3453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4EE90F9-6144-6C8D-A2E5-8001B9837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488" y="2359059"/>
                <a:ext cx="2118400" cy="345351"/>
              </a:xfrm>
              <a:prstGeom prst="rect">
                <a:avLst/>
              </a:prstGeom>
              <a:blipFill rotWithShape="0">
                <a:blip r:embed="rId4"/>
                <a:stretch>
                  <a:fillRect l="-2011" t="-12281" r="-1724" b="-42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FD08ED6-6413-7F17-F4FF-A8B34CBD5FAD}"/>
                  </a:ext>
                </a:extLst>
              </p:cNvPr>
              <p:cNvSpPr txBox="1"/>
              <p:nvPr/>
            </p:nvSpPr>
            <p:spPr>
              <a:xfrm>
                <a:off x="2561215" y="3320448"/>
                <a:ext cx="6594946" cy="999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000" b="0" i="1" noProof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2000" b="0" i="1" noProof="0" smtClean="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 noProof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 noProof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num>
                                    <m:den>
                                      <m:r>
                                        <a:rPr lang="en-US" sz="2000" i="1" noProof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 noProof="0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 noProof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d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0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000" i="1">
                              <a:latin typeface="Cambria Math" panose="02040503050406030204" pitchFamily="18" charset="0"/>
                            </a:rPr>
                            <m:t>β</m:t>
                          </m:r>
                        </m:sub>
                      </m:sSub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FD08ED6-6413-7F17-F4FF-A8B34CBD5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215" y="3320448"/>
                <a:ext cx="6594946" cy="9991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3AE73B14-70D1-7F81-50EC-BE13B99DE765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010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1504-9F29-7534-C576-8EC7548FF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DB26AA5-5871-1D7D-0C53-5FF6CBF3DAF9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ED10FA-EF20-CFAA-4875-4BDFF5805A8A}"/>
              </a:ext>
            </a:extLst>
          </p:cNvPr>
          <p:cNvSpPr/>
          <p:nvPr/>
        </p:nvSpPr>
        <p:spPr>
          <a:xfrm>
            <a:off x="5751871" y="5830528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2676763" y="3723640"/>
            <a:ext cx="6838473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2"/>
              </a:buClr>
              <a:buSzPts val="2800"/>
            </a:pPr>
            <a:r>
              <a:rPr lang="en-US" sz="36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Resolution Methodology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80827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F92C805-FFBD-E147-C7F0-CC812897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6DFE4E03-43E4-2771-1500-F02A63B9A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2.1.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Goland Wing base problem modifications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CA959B31-7458-49DF-4961-0CD443D22A6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D4FB28D-E7C8-F4AC-BE2C-75A536771F72}"/>
              </a:ext>
            </a:extLst>
          </p:cNvPr>
          <p:cNvSpPr txBox="1"/>
          <p:nvPr/>
        </p:nvSpPr>
        <p:spPr>
          <a:xfrm>
            <a:off x="384695" y="1367034"/>
            <a:ext cx="109224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LCO in this system will be characterized by the vibration of all the components of the state with a constant amplitude. The nature of this oscillation will be defined by the dynamics of the feedback system. In the frequency domain: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ED98B7B-BD76-8633-76D4-52E313878FB3}"/>
                  </a:ext>
                </a:extLst>
              </p:cNvPr>
              <p:cNvSpPr txBox="1"/>
              <p:nvPr/>
            </p:nvSpPr>
            <p:spPr>
              <a:xfrm>
                <a:off x="2593785" y="2759712"/>
                <a:ext cx="7023205" cy="3182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(−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theo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theo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̃"/>
                          <m:ctrlPr>
                            <a:rPr lang="en-US" sz="20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D98B7B-BD76-8633-76D4-52E31387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785" y="2759712"/>
                <a:ext cx="7023205" cy="318229"/>
              </a:xfrm>
              <a:prstGeom prst="rect">
                <a:avLst/>
              </a:prstGeom>
              <a:blipFill rotWithShape="0">
                <a:blip r:embed="rId3"/>
                <a:stretch>
                  <a:fillRect t="-25000" b="-36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FD4FB28D-E7C8-F4AC-BE2C-75A536771F72}"/>
              </a:ext>
            </a:extLst>
          </p:cNvPr>
          <p:cNvSpPr txBox="1"/>
          <p:nvPr/>
        </p:nvSpPr>
        <p:spPr>
          <a:xfrm>
            <a:off x="384695" y="3459756"/>
            <a:ext cx="10922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Where: </a:t>
            </a:r>
          </a:p>
          <a:p>
            <a:pPr lvl="8" algn="just">
              <a:buSzPct val="80000"/>
            </a:pPr>
            <a:endParaRPr lang="en-US" sz="2000" noProof="0" dirty="0">
              <a:solidFill>
                <a:schemeClr val="tx1"/>
              </a:solidFill>
            </a:endParaRPr>
          </a:p>
          <a:p>
            <a:pPr lvl="2" algn="just">
              <a:buSzPct val="80000"/>
            </a:pPr>
            <a:r>
              <a:rPr lang="en-US" sz="2000" noProof="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73DBEB-9979-7607-31E3-06501C6B775C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91AD743-DF4A-6E1F-B0A2-03328E361081}"/>
                  </a:ext>
                </a:extLst>
              </p:cNvPr>
              <p:cNvSpPr txBox="1"/>
              <p:nvPr/>
            </p:nvSpPr>
            <p:spPr>
              <a:xfrm>
                <a:off x="903682" y="3967588"/>
                <a:ext cx="10403413" cy="3193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, </m:t>
                    </m:r>
                    <m:acc>
                      <m:accPr>
                        <m:chr m:val="̂"/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𝑎𝑒𝑟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acc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𝑎𝑒𝑟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are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modal projections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of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stiffness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mass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aerodynamic damping and stiffness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matrices, respectively. Theodorsen aerodynamics were used</a:t>
                </a:r>
                <a:endParaRPr lang="es-ES" sz="2000" b="0" i="1" noProof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is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frequency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of the LCO and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is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airspeed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</m:oMath>
                </a14:m>
                <a:r>
                  <a:rPr lang="en-US" sz="2000" b="1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is a vector that defines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shape of the LCO in modal coordinates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noProof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sz="2000" b="0" i="1" noProof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is derived from the PVW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  <m:sup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where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r>
                  <a:rPr lang="en-US" sz="2000" noProof="0" dirty="0"/>
                  <a:t> is a row vector containing the flap angle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noProof="0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en-US" sz="2000" noProof="0" dirty="0"/>
                  <a:t>) components of the modes used in the modal projection.</a:t>
                </a: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lvl="8" algn="just">
                  <a:buSzPct val="80000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lvl="2" algn="just">
                  <a:buSzPct val="80000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1AD743-DF4A-6E1F-B0A2-03328E361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82" y="3967588"/>
                <a:ext cx="10403413" cy="3193951"/>
              </a:xfrm>
              <a:prstGeom prst="rect">
                <a:avLst/>
              </a:prstGeom>
              <a:blipFill rotWithShape="0">
                <a:blip r:embed="rId4"/>
                <a:stretch>
                  <a:fillRect l="-234" t="-954" r="-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531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F92C805-FFBD-E147-C7F0-CC812897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6DFE4E03-43E4-2771-1500-F02A63B9A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2.1.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Goland Wing base problem modifications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CA959B31-7458-49DF-4961-0CD443D22A6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D4FB28D-E7C8-F4AC-BE2C-75A536771F72}"/>
                  </a:ext>
                </a:extLst>
              </p:cNvPr>
              <p:cNvSpPr txBox="1"/>
              <p:nvPr/>
            </p:nvSpPr>
            <p:spPr>
              <a:xfrm>
                <a:off x="455059" y="2099221"/>
                <a:ext cx="5404967" cy="3274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By the definition of the problem, the case of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corresponds with the flutter point of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Goland wing with zero actuator stiffness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 Consequently, this flutter point can be used as a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starting point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for identifications of LCO with larger amplitudes. </a:t>
                </a:r>
              </a:p>
              <a:p>
                <a:pPr algn="just">
                  <a:buSzPct val="80000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The starting flutter point is at 51 m/s, with a frequency of 43 rad/s. 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D4FB28D-E7C8-F4AC-BE2C-75A536771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59" y="2099221"/>
                <a:ext cx="5404967" cy="3274166"/>
              </a:xfrm>
              <a:prstGeom prst="rect">
                <a:avLst/>
              </a:prstGeom>
              <a:blipFill rotWithShape="0">
                <a:blip r:embed="rId3"/>
                <a:stretch>
                  <a:fillRect l="-451" t="-745" r="-12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F93455A8-326D-9111-06A0-F3C3C4A09742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Imagen 14" descr="Gráfico&#10;&#10;El contenido generado por IA puede ser incorrecto.">
            <a:extLst>
              <a:ext uri="{FF2B5EF4-FFF2-40B4-BE49-F238E27FC236}">
                <a16:creationId xmlns:a16="http://schemas.microsoft.com/office/drawing/2014/main" id="{9A1C95E3-E388-871E-6906-7AA69F927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026" y="1441614"/>
            <a:ext cx="6119174" cy="458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14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F92C805-FFBD-E147-C7F0-CC812897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6DFE4E03-43E4-2771-1500-F02A63B9A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2.1.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Goland Wing base problem modifications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CA959B31-7458-49DF-4961-0CD443D22A6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D4FB28D-E7C8-F4AC-BE2C-75A536771F72}"/>
              </a:ext>
            </a:extLst>
          </p:cNvPr>
          <p:cNvSpPr txBox="1"/>
          <p:nvPr/>
        </p:nvSpPr>
        <p:spPr>
          <a:xfrm>
            <a:off x="455059" y="2099221"/>
            <a:ext cx="54049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By observing the damping and frequency plots of this model it can be concluded that the </a:t>
            </a:r>
            <a:r>
              <a:rPr lang="en-US" sz="2000" b="1" dirty="0">
                <a:solidFill>
                  <a:schemeClr val="tx1"/>
                </a:solidFill>
              </a:rPr>
              <a:t>flutter mechanism involves the first 2 modes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algn="just">
              <a:buSzPct val="80000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With this in mind, the model for LCO identification is initially based on these 2 modes.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3455A8-326D-9111-06A0-F3C3C4A09742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2224737B-DA54-9C5A-615E-9DDD0FA56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026" y="1331583"/>
            <a:ext cx="6119174" cy="458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13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D2C5D3E0-E316-7456-BD0D-9D44EE86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5DABC7B-2960-EC75-3DF7-33E3A6983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2.1.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Goland Wing equations development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0B45AFB7-CEF9-C7D5-14B1-3161911C16F7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183966-43FA-5B3A-A14D-A32446A980F4}"/>
              </a:ext>
            </a:extLst>
          </p:cNvPr>
          <p:cNvSpPr txBox="1"/>
          <p:nvPr/>
        </p:nvSpPr>
        <p:spPr>
          <a:xfrm>
            <a:off x="384695" y="1367034"/>
            <a:ext cx="10922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A9351E6-3A02-8690-FE14-D2D6CC74BFC0}"/>
                  </a:ext>
                </a:extLst>
              </p:cNvPr>
              <p:cNvSpPr txBox="1"/>
              <p:nvPr/>
            </p:nvSpPr>
            <p:spPr>
              <a:xfrm>
                <a:off x="7501473" y="1120313"/>
                <a:ext cx="2988382" cy="319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̈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̇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A9351E6-3A02-8690-FE14-D2D6CC74B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473" y="1120313"/>
                <a:ext cx="2988382" cy="319383"/>
              </a:xfrm>
              <a:prstGeom prst="rect">
                <a:avLst/>
              </a:prstGeom>
              <a:blipFill>
                <a:blip r:embed="rId3"/>
                <a:stretch>
                  <a:fillRect l="-1429" t="-25000" r="-122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88D3100-213D-8B48-3674-3107B0ACDDBC}"/>
                  </a:ext>
                </a:extLst>
              </p:cNvPr>
              <p:cNvSpPr txBox="1"/>
              <p:nvPr/>
            </p:nvSpPr>
            <p:spPr>
              <a:xfrm>
                <a:off x="405898" y="1120313"/>
                <a:ext cx="5895888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As previously presented, the problem is handled in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frequency domain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Since the model resembles a damped oscillator, complex eigenvectors are expected. For simplicity in the numerical treatment, they are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separated in the real and imaginary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part.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With unknowns being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frequency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amplitude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velocity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000" b="1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and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eigenvector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(2x1), 2 more equations are needed for the problem to be solvable by fixing one of the variables and evaluating successively. They were chosen such that the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noProof="0" dirty="0">
                    <a:solidFill>
                      <a:schemeClr val="tx1"/>
                    </a:solidFill>
                  </a:rPr>
                  <a:t> motion associated to the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LCO eigenvector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corresponds to an oscillation of amplitude A and zero phase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88D3100-213D-8B48-3674-3107B0ACD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98" y="1120313"/>
                <a:ext cx="5895888" cy="5324535"/>
              </a:xfrm>
              <a:prstGeom prst="rect">
                <a:avLst/>
              </a:prstGeom>
              <a:blipFill rotWithShape="0">
                <a:blip r:embed="rId4"/>
                <a:stretch>
                  <a:fillRect l="-414" t="-573" r="-10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ED98B7B-BD76-8633-76D4-52E313878FB3}"/>
                  </a:ext>
                </a:extLst>
              </p:cNvPr>
              <p:cNvSpPr txBox="1"/>
              <p:nvPr/>
            </p:nvSpPr>
            <p:spPr>
              <a:xfrm>
                <a:off x="7119028" y="1591813"/>
                <a:ext cx="3753272" cy="319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ED98B7B-BD76-8633-76D4-52E31387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28" y="1591813"/>
                <a:ext cx="3753272" cy="319383"/>
              </a:xfrm>
              <a:prstGeom prst="rect">
                <a:avLst/>
              </a:prstGeom>
              <a:blipFill>
                <a:blip r:embed="rId5"/>
                <a:stretch>
                  <a:fillRect l="-162" t="-22642" r="-1136" b="-3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E214FDD-0941-C6DA-6BF5-B1C96ADC1094}"/>
                  </a:ext>
                </a:extLst>
              </p:cNvPr>
              <p:cNvSpPr txBox="1"/>
              <p:nvPr/>
            </p:nvSpPr>
            <p:spPr>
              <a:xfrm>
                <a:off x="6842873" y="2805532"/>
                <a:ext cx="4640886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𝐼𝑚</m:t>
                      </m:r>
                      <m:d>
                        <m:d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E214FDD-0941-C6DA-6BF5-B1C96ADC1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873" y="2805532"/>
                <a:ext cx="4640886" cy="347403"/>
              </a:xfrm>
              <a:prstGeom prst="rect">
                <a:avLst/>
              </a:prstGeom>
              <a:blipFill>
                <a:blip r:embed="rId6"/>
                <a:stretch>
                  <a:fillRect t="-19298" r="-78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D8BFD7C-82A6-BEB0-FF2E-42BDE0846EA6}"/>
                  </a:ext>
                </a:extLst>
              </p:cNvPr>
              <p:cNvSpPr txBox="1"/>
              <p:nvPr/>
            </p:nvSpPr>
            <p:spPr>
              <a:xfrm>
                <a:off x="6804240" y="3291895"/>
                <a:ext cx="4718151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𝐼𝑚</m:t>
                      </m:r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D8BFD7C-82A6-BEB0-FF2E-42BDE0846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0" y="3291895"/>
                <a:ext cx="4718151" cy="347403"/>
              </a:xfrm>
              <a:prstGeom prst="rect">
                <a:avLst/>
              </a:prstGeom>
              <a:blipFill>
                <a:blip r:embed="rId7"/>
                <a:stretch>
                  <a:fillRect t="-19298" r="-646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146471AE-782D-A3EC-88F6-D4DB36F73983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5EA4288-1681-082B-6ED2-2A59BF3AFB8C}"/>
                  </a:ext>
                </a:extLst>
              </p:cNvPr>
              <p:cNvSpPr txBox="1"/>
              <p:nvPr/>
            </p:nvSpPr>
            <p:spPr>
              <a:xfrm>
                <a:off x="8529005" y="4671124"/>
                <a:ext cx="12686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2000" i="1" noProof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5EA4288-1681-082B-6ED2-2A59BF3AF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05" y="4671124"/>
                <a:ext cx="1268617" cy="307777"/>
              </a:xfrm>
              <a:prstGeom prst="rect">
                <a:avLst/>
              </a:prstGeom>
              <a:blipFill>
                <a:blip r:embed="rId8"/>
                <a:stretch>
                  <a:fillRect l="-3365" r="-3846" b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CEEC7FB-0E32-453F-4099-1A6F668FA659}"/>
                  </a:ext>
                </a:extLst>
              </p:cNvPr>
              <p:cNvSpPr txBox="1"/>
              <p:nvPr/>
            </p:nvSpPr>
            <p:spPr>
              <a:xfrm>
                <a:off x="6115314" y="5065154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CEEC7FB-0E32-453F-4099-1A6F668FA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314" y="5065154"/>
                <a:ext cx="6096000" cy="400110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52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0310740-B0E0-2C04-43CB-7237A35C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1501B954-1017-C2F7-A81A-EF78DAEDA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2.2.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Computation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1F42C0D9-D54F-0EAB-C503-1CBE42974F50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C4F0F-FA8A-E6D8-14CB-31440D25B323}"/>
              </a:ext>
            </a:extLst>
          </p:cNvPr>
          <p:cNvSpPr txBox="1"/>
          <p:nvPr/>
        </p:nvSpPr>
        <p:spPr>
          <a:xfrm>
            <a:off x="384695" y="1502273"/>
            <a:ext cx="110683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characteristics of the LCO as a function of A have been computed with a </a:t>
            </a:r>
            <a:r>
              <a:rPr lang="en-US" sz="2000" b="1" noProof="0" dirty="0">
                <a:solidFill>
                  <a:schemeClr val="tx1"/>
                </a:solidFill>
              </a:rPr>
              <a:t>continuation algorithm</a:t>
            </a:r>
            <a:r>
              <a:rPr lang="en-US" sz="2000" noProof="0" dirty="0">
                <a:solidFill>
                  <a:schemeClr val="tx1"/>
                </a:solidFill>
              </a:rPr>
              <a:t>. Starting from the flutter point, an initial guess is obtained by linear propagation. This guess is refined with a </a:t>
            </a:r>
            <a:r>
              <a:rPr lang="en-US" sz="2000" b="1" noProof="0" dirty="0">
                <a:solidFill>
                  <a:schemeClr val="tx1"/>
                </a:solidFill>
              </a:rPr>
              <a:t>Newton-Raphson</a:t>
            </a:r>
            <a:r>
              <a:rPr lang="en-US" sz="2000" noProof="0" dirty="0">
                <a:solidFill>
                  <a:schemeClr val="tx1"/>
                </a:solidFill>
              </a:rPr>
              <a:t> method up to a specified tolerance. The process is repeated over the desired range of amplitude. 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CC058C-B4A6-FF33-CBCC-A7F82A7D5853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8E511876-3A8E-C8BF-7351-444C6F06F20D}"/>
                  </a:ext>
                </a:extLst>
              </p:cNvPr>
              <p:cNvSpPr/>
              <p:nvPr/>
            </p:nvSpPr>
            <p:spPr>
              <a:xfrm>
                <a:off x="7517615" y="3482891"/>
                <a:ext cx="2599918" cy="1038166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Newton</m:t>
                      </m:r>
                      <m:r>
                        <a:rPr lang="en-US" sz="20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Raphson</m:t>
                      </m:r>
                    </m:oMath>
                  </m:oMathPara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E511876-3A8E-C8BF-7351-444C6F06F2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615" y="3482891"/>
                <a:ext cx="2599918" cy="10381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6924952-E1A0-21A6-C9DB-3F129279ADCC}"/>
              </a:ext>
            </a:extLst>
          </p:cNvPr>
          <p:cNvCxnSpPr>
            <a:cxnSpLocks/>
          </p:cNvCxnSpPr>
          <p:nvPr/>
        </p:nvCxnSpPr>
        <p:spPr>
          <a:xfrm>
            <a:off x="5383168" y="3976787"/>
            <a:ext cx="20549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9B725C04-3DF1-3A00-04F6-5CBC636C7E9E}"/>
                  </a:ext>
                </a:extLst>
              </p:cNvPr>
              <p:cNvSpPr/>
              <p:nvPr/>
            </p:nvSpPr>
            <p:spPr>
              <a:xfrm>
                <a:off x="2074467" y="3482891"/>
                <a:ext cx="3244648" cy="987792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𝐿𝑖𝑛𝑒𝑎𝑟</m:t>
                      </m:r>
                      <m:r>
                        <a:rPr lang="en-US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𝑝𝑟𝑜𝑝𝑎𝑔𝑎𝑡𝑖𝑜𝑛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725C04-3DF1-3A00-04F6-5CBC636C7E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467" y="3482891"/>
                <a:ext cx="3244648" cy="98779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B87E0751-4A0E-EA2D-6CAC-C4EBFC079C85}"/>
              </a:ext>
            </a:extLst>
          </p:cNvPr>
          <p:cNvSpPr txBox="1"/>
          <p:nvPr/>
        </p:nvSpPr>
        <p:spPr>
          <a:xfrm>
            <a:off x="5853146" y="3627384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Initial guess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C5EB096-BC78-4950-BB25-D126485F2E21}"/>
                  </a:ext>
                </a:extLst>
              </p:cNvPr>
              <p:cNvSpPr txBox="1"/>
              <p:nvPr/>
            </p:nvSpPr>
            <p:spPr>
              <a:xfrm>
                <a:off x="216558" y="3350385"/>
                <a:ext cx="1638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b="0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8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C5EB096-BC78-4950-BB25-D126485F2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58" y="3350385"/>
                <a:ext cx="1638141" cy="276999"/>
              </a:xfrm>
              <a:prstGeom prst="rect">
                <a:avLst/>
              </a:prstGeom>
              <a:blipFill>
                <a:blip r:embed="rId5"/>
                <a:stretch>
                  <a:fillRect l="-1493" r="-149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2D328DA3-A0CB-825B-71B0-69CB47CDBA22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1341960" y="3321052"/>
            <a:ext cx="259160" cy="871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409B7DD1-0E72-9C6F-7C33-29D925ED83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29172" y="4043266"/>
            <a:ext cx="9045679" cy="1378940"/>
          </a:xfrm>
          <a:prstGeom prst="bentConnector3">
            <a:avLst>
              <a:gd name="adj1" fmla="val -26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BB66708-37E6-36A3-68A4-7809DC0021BC}"/>
              </a:ext>
            </a:extLst>
          </p:cNvPr>
          <p:cNvCxnSpPr>
            <a:cxnSpLocks/>
          </p:cNvCxnSpPr>
          <p:nvPr/>
        </p:nvCxnSpPr>
        <p:spPr>
          <a:xfrm>
            <a:off x="1229172" y="4162466"/>
            <a:ext cx="678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A167D52E-B9EF-0BB8-D029-CCD60803CD95}"/>
              </a:ext>
            </a:extLst>
          </p:cNvPr>
          <p:cNvCxnSpPr/>
          <p:nvPr/>
        </p:nvCxnSpPr>
        <p:spPr>
          <a:xfrm flipV="1">
            <a:off x="1229172" y="4162466"/>
            <a:ext cx="0" cy="1259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419901D-47F9-CBCF-7C1C-E4BCD0145BD8}"/>
                  </a:ext>
                </a:extLst>
              </p:cNvPr>
              <p:cNvSpPr txBox="1"/>
              <p:nvPr/>
            </p:nvSpPr>
            <p:spPr>
              <a:xfrm>
                <a:off x="5132439" y="5031058"/>
                <a:ext cx="17499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/>
                  <a:t>LCO solution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</a:t>
                </a: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419901D-47F9-CBCF-7C1C-E4BCD0145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439" y="5031058"/>
                <a:ext cx="1749903" cy="307777"/>
              </a:xfrm>
              <a:prstGeom prst="rect">
                <a:avLst/>
              </a:prstGeom>
              <a:blipFill>
                <a:blip r:embed="rId6"/>
                <a:stretch>
                  <a:fillRect l="-1045"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342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F248A-1055-6350-6753-37C57193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0734245-E174-1BB4-D986-AE8F1E158CA9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ED10FA-EF20-CFAA-4875-4BDFF5805A8A}"/>
              </a:ext>
            </a:extLst>
          </p:cNvPr>
          <p:cNvSpPr/>
          <p:nvPr/>
        </p:nvSpPr>
        <p:spPr>
          <a:xfrm>
            <a:off x="5587326" y="5830528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2676763" y="3723640"/>
            <a:ext cx="6838473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2"/>
              </a:buClr>
              <a:buSzPts val="2800"/>
            </a:pPr>
            <a:r>
              <a:rPr lang="en-US" sz="36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Results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631860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659CCB3B-4E16-2A6A-57EF-90557866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E9BBFFB7-13DE-B109-5642-BB92D2CAB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3.1.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Curve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C64A81D8-6310-D7B3-FED0-FDEF79ED8B6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D7753A9-61D4-2AF1-CCDA-9210EA950356}"/>
                  </a:ext>
                </a:extLst>
              </p:cNvPr>
              <p:cNvSpPr txBox="1"/>
              <p:nvPr/>
            </p:nvSpPr>
            <p:spPr>
              <a:xfrm>
                <a:off x="384695" y="5087618"/>
                <a:ext cx="1113505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The Goland wing model has a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subcritical LCO profile.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A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sufficiently large amplitude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perturbation can lead to an LCO at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velocities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D7753A9-61D4-2AF1-CCDA-9210EA950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5087618"/>
                <a:ext cx="11135053" cy="1323439"/>
              </a:xfrm>
              <a:prstGeom prst="rect">
                <a:avLst/>
              </a:prstGeom>
              <a:blipFill>
                <a:blip r:embed="rId3"/>
                <a:stretch>
                  <a:fillRect l="-219" t="-2304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505" y="904712"/>
            <a:ext cx="5453431" cy="409007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4862B2A-45D8-9578-5C07-9158AA4333B1}"/>
              </a:ext>
            </a:extLst>
          </p:cNvPr>
          <p:cNvSpPr/>
          <p:nvPr/>
        </p:nvSpPr>
        <p:spPr>
          <a:xfrm>
            <a:off x="3225505" y="2487561"/>
            <a:ext cx="530418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D19DC3-C628-880E-E14F-571C144CD81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692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45D38A85-1A1A-A9FC-75E7-16D3F559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B9DC6991-E662-AB8B-39D8-E935656BF6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3.1.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Curve - Amplitude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E049F02F-72B9-AE41-BF6F-DA2CC2F9477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926DE88F-2B5D-6997-404A-5157B51E0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47" y="979566"/>
            <a:ext cx="4477993" cy="3358495"/>
          </a:xfrm>
          <a:prstGeom prst="rect">
            <a:avLst/>
          </a:prstGeom>
        </p:spPr>
      </p:pic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E4DBE479-B9AC-DDBD-0FDF-171403AB6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271" y="988987"/>
            <a:ext cx="4477994" cy="335849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E4440E7-B15F-DBD2-3BB5-5EEF9632FAC7}"/>
              </a:ext>
            </a:extLst>
          </p:cNvPr>
          <p:cNvSpPr/>
          <p:nvPr/>
        </p:nvSpPr>
        <p:spPr>
          <a:xfrm>
            <a:off x="5500750" y="2172929"/>
            <a:ext cx="428102" cy="216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8CDD79F-8080-E762-ED34-713A4104024F}"/>
                  </a:ext>
                </a:extLst>
              </p:cNvPr>
              <p:cNvSpPr txBox="1"/>
              <p:nvPr/>
            </p:nvSpPr>
            <p:spPr>
              <a:xfrm>
                <a:off x="119816" y="4244031"/>
                <a:ext cx="1161807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buSzPct val="80000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Results considering 2 and 6 modes are practically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identical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, confirming that the LCO mechanism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involves mainly the first 2 modes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The right figure demonstrates that the phenomenon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only depends on the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m:rPr>
                        <m:lit/>
                      </m:rPr>
                      <a:rPr lang="en-US" sz="2000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000" b="1" noProof="0" dirty="0">
                    <a:solidFill>
                      <a:schemeClr val="tx1"/>
                    </a:solidFill>
                  </a:rPr>
                  <a:t> ratio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 The response collapses into a single curve given by the non-linear ratio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lit/>
                      </m:rPr>
                      <a:rPr lang="en-US" sz="2000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as expected, since the DF is only a function of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this ratio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8CDD79F-8080-E762-ED34-713A41040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16" y="4244031"/>
                <a:ext cx="11618072" cy="2246769"/>
              </a:xfrm>
              <a:prstGeom prst="rect">
                <a:avLst/>
              </a:prstGeom>
              <a:blipFill>
                <a:blip r:embed="rId5"/>
                <a:stretch>
                  <a:fillRect l="-210" r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>
            <a:extLst>
              <a:ext uri="{FF2B5EF4-FFF2-40B4-BE49-F238E27FC236}">
                <a16:creationId xmlns:a16="http://schemas.microsoft.com/office/drawing/2014/main" id="{E3D9088A-7E9F-F650-25B7-1A6BCD042DE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5984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45D38A85-1A1A-A9FC-75E7-16D3F559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B9DC6991-E662-AB8B-39D8-E935656BF6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3.1.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Curve - Frequency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E049F02F-72B9-AE41-BF6F-DA2CC2F9477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6DE88F-2B5D-6997-404A-5157B51E0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47" y="979566"/>
            <a:ext cx="4477993" cy="33584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4DBE479-B9AC-DDBD-0FDF-171403AB6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271" y="988987"/>
            <a:ext cx="4477994" cy="335849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E4440E7-B15F-DBD2-3BB5-5EEF9632FAC7}"/>
              </a:ext>
            </a:extLst>
          </p:cNvPr>
          <p:cNvSpPr/>
          <p:nvPr/>
        </p:nvSpPr>
        <p:spPr>
          <a:xfrm>
            <a:off x="5500750" y="2172929"/>
            <a:ext cx="428102" cy="216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8CDD79F-8080-E762-ED34-713A4104024F}"/>
              </a:ext>
            </a:extLst>
          </p:cNvPr>
          <p:cNvSpPr txBox="1"/>
          <p:nvPr/>
        </p:nvSpPr>
        <p:spPr>
          <a:xfrm>
            <a:off x="119816" y="4244031"/>
            <a:ext cx="116180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80000"/>
            </a:pP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The LCO frequency increases by approx. </a:t>
            </a:r>
            <a:r>
              <a:rPr lang="en-US" sz="2000" b="1" dirty="0"/>
              <a:t>10%</a:t>
            </a:r>
            <a:r>
              <a:rPr lang="en-US" sz="2000" dirty="0"/>
              <a:t> as amplitude grows. This confirms the </a:t>
            </a:r>
            <a:r>
              <a:rPr lang="en-US" sz="2000" b="1" dirty="0"/>
              <a:t>hardening stiffness</a:t>
            </a:r>
            <a:r>
              <a:rPr lang="en-US" sz="2000" dirty="0"/>
              <a:t> behavior of the wing.</a:t>
            </a:r>
          </a:p>
          <a:p>
            <a:pPr algn="just">
              <a:buSzPct val="80000"/>
            </a:pPr>
            <a:endParaRPr lang="en-US" sz="200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Comments made for amplitude apply also to frequency plots.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3D9088A-7E9F-F650-25B7-1A6BCD042DE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5301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C24BA6E4-1BFC-C365-3B02-1C29C9D1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456E7E05-83BA-A598-1D82-938E4667A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Stability analysis - Methodology 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7AD7F61B-02FC-EB12-4002-F444F44DACB0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52F6F4D-9302-9B16-0E81-32E442D20965}"/>
                  </a:ext>
                </a:extLst>
              </p:cNvPr>
              <p:cNvSpPr txBox="1"/>
              <p:nvPr/>
            </p:nvSpPr>
            <p:spPr>
              <a:xfrm>
                <a:off x="384695" y="1288058"/>
                <a:ext cx="1076508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A study of the stability of the LCO is fundamental to understanding its effects on the performance of the system. In what follows, a static stability argument is presented.</a:t>
                </a:r>
              </a:p>
              <a:p>
                <a:pPr algn="just">
                  <a:buSzPct val="80000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First, the equations are </a:t>
                </a:r>
                <a:r>
                  <a:rPr lang="en-US" sz="2000" b="1" noProof="0" dirty="0"/>
                  <a:t>linearized at constant velocity </a:t>
                </a:r>
                <a:r>
                  <a:rPr lang="en-US" sz="2000" noProof="0" dirty="0"/>
                  <a:t>around the </a:t>
                </a:r>
                <a:r>
                  <a:rPr lang="en-US" sz="2000" b="1" noProof="0" dirty="0"/>
                  <a:t>identified LCO</a:t>
                </a:r>
                <a:r>
                  <a:rPr lang="en-US" sz="2000" noProof="0" dirty="0"/>
                  <a:t>, considering perturbations in </a:t>
                </a:r>
                <a:r>
                  <a:rPr lang="en-US" sz="2000" b="1" noProof="0" dirty="0"/>
                  <a:t>amplitude, frequency, damping </a:t>
                </a:r>
                <a:r>
                  <a:rPr lang="en-US" sz="2000" noProof="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1" i="1" noProof="0" smtClean="0">
                        <a:latin typeface="Cambria Math" panose="02040503050406030204" pitchFamily="18" charset="0"/>
                      </a:rPr>
                      <m:t>δσ</m:t>
                    </m:r>
                  </m:oMath>
                </a14:m>
                <a:r>
                  <a:rPr lang="en-US" sz="2000" noProof="0" dirty="0"/>
                  <a:t>)</a:t>
                </a:r>
                <a:r>
                  <a:rPr lang="en-US" sz="2000" b="1" noProof="0" dirty="0"/>
                  <a:t> and shape</a:t>
                </a:r>
                <a:r>
                  <a:rPr lang="en-US" sz="2000" noProof="0" dirty="0"/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52F6F4D-9302-9B16-0E81-32E442D2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288058"/>
                <a:ext cx="10765086" cy="2246769"/>
              </a:xfrm>
              <a:prstGeom prst="rect">
                <a:avLst/>
              </a:prstGeom>
              <a:blipFill rotWithShape="0">
                <a:blip r:embed="rId3"/>
                <a:stretch>
                  <a:fillRect l="-227" t="-1084" r="-6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C11A9538-E435-639E-7A17-C153C27A63C8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8F62B68-4F60-8699-DB5A-AADDFC51690C}"/>
                  </a:ext>
                </a:extLst>
              </p:cNvPr>
              <p:cNvSpPr txBox="1"/>
              <p:nvPr/>
            </p:nvSpPr>
            <p:spPr>
              <a:xfrm>
                <a:off x="0" y="3360985"/>
                <a:ext cx="11278409" cy="1124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f>
                                      <m:f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100" b="0" i="0" noProof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1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sz="1100" noProof="0"/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𝑑𝑁</m:t>
                                    </m:r>
                                  </m:num>
                                  <m:den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den>
                                </m:f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Sup>
                                  <m:sSubSup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, 0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100" noProof="0"/>
                                  <m:t> </m:t>
                                </m:r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100" b="0" i="0" noProof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1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f>
                                      <m:f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sz="1100" noProof="0"/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𝑑𝑁</m:t>
                                    </m:r>
                                  </m:num>
                                  <m:den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den>
                                </m:f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Sup>
                                  <m:sSubSup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, 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0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F62B68-4F60-8699-DB5A-AADDFC516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60985"/>
                <a:ext cx="11278409" cy="112460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D49C4E2-AF83-C729-2BC0-30488F272AD7}"/>
                  </a:ext>
                </a:extLst>
              </p:cNvPr>
              <p:cNvSpPr txBox="1"/>
              <p:nvPr/>
            </p:nvSpPr>
            <p:spPr>
              <a:xfrm>
                <a:off x="11216189" y="3402246"/>
                <a:ext cx="932114" cy="1042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δω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δσ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δA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D49C4E2-AF83-C729-2BC0-30488F272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89" y="3402246"/>
                <a:ext cx="932114" cy="104208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4C68772C-D4E3-2CE7-C0F1-58937717261F}"/>
              </a:ext>
            </a:extLst>
          </p:cNvPr>
          <p:cNvSpPr txBox="1"/>
          <p:nvPr/>
        </p:nvSpPr>
        <p:spPr>
          <a:xfrm>
            <a:off x="384695" y="4877819"/>
            <a:ext cx="10765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80000"/>
            </a:pPr>
            <a:r>
              <a:rPr lang="en-US" sz="2000" noProof="0" dirty="0"/>
              <a:t>*Where the 0 subindex means the identified LCO at airspeed U.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950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50D7DA5D-0F33-ED58-ABCD-3E9A32AF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B16E5EE9-715C-09A2-00BE-8912015AE6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Stability analysis – Methodology 2 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92EEA164-F9BE-7B75-2030-B04C8F044C9B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B2D020-4300-799E-EC07-475BF15F7E33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974C9DD-AE91-689E-8FB5-07A54E991F0E}"/>
                  </a:ext>
                </a:extLst>
              </p:cNvPr>
              <p:cNvSpPr txBox="1"/>
              <p:nvPr/>
            </p:nvSpPr>
            <p:spPr>
              <a:xfrm>
                <a:off x="-65008" y="2517202"/>
                <a:ext cx="9789859" cy="10737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f>
                                      <m:f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050" b="0" i="0" noProof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5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05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1050" noProof="0"/>
                                  <m:t> </m:t>
                                </m:r>
                              </m:e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Sup>
                                  <m:sSubSup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, 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05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50" b="0" i="0" noProof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5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f>
                                      <m:f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05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5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sz="105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5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1050" noProof="0"/>
                                  <m:t> </m:t>
                                </m:r>
                              </m:e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Sup>
                                  <m:sSubSup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, 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00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974C9DD-AE91-689E-8FB5-07A54E991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008" y="2517202"/>
                <a:ext cx="9789859" cy="10737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4D17980-6CA2-E8E8-9882-BF4985EF37F1}"/>
                  </a:ext>
                </a:extLst>
              </p:cNvPr>
              <p:cNvSpPr txBox="1"/>
              <p:nvPr/>
            </p:nvSpPr>
            <p:spPr>
              <a:xfrm>
                <a:off x="9638725" y="2188553"/>
                <a:ext cx="2467149" cy="17310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𝛿𝜔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noProof="0"/>
                                  <m:t> 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noProof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𝑑𝑁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𝑑𝑁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4D17980-6CA2-E8E8-9882-BF4985EF3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725" y="2188553"/>
                <a:ext cx="2467149" cy="1731051"/>
              </a:xfrm>
              <a:prstGeom prst="rect">
                <a:avLst/>
              </a:prstGeom>
              <a:blipFill rotWithShape="0">
                <a:blip r:embed="rId4"/>
                <a:stretch>
                  <a:fillRect r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05627C0-20B3-984C-73E6-7BCA3E5C37DA}"/>
                  </a:ext>
                </a:extLst>
              </p:cNvPr>
              <p:cNvSpPr txBox="1"/>
              <p:nvPr/>
            </p:nvSpPr>
            <p:spPr>
              <a:xfrm>
                <a:off x="384695" y="1308215"/>
                <a:ext cx="1076508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Treating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noProof="0" dirty="0"/>
                  <a:t> as a known quantity, the relative variation of all other parameters can be derived by solving this linear system: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05627C0-20B3-984C-73E6-7BCA3E5C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308215"/>
                <a:ext cx="10765086" cy="1323439"/>
              </a:xfrm>
              <a:prstGeom prst="rect">
                <a:avLst/>
              </a:prstGeom>
              <a:blipFill>
                <a:blip r:embed="rId5"/>
                <a:stretch>
                  <a:fillRect l="-227" t="-2304" r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C8050E93-1A9B-09D6-F49A-4C2F3A1A66D4}"/>
              </a:ext>
            </a:extLst>
          </p:cNvPr>
          <p:cNvSpPr txBox="1"/>
          <p:nvPr/>
        </p:nvSpPr>
        <p:spPr>
          <a:xfrm>
            <a:off x="384695" y="4118648"/>
            <a:ext cx="10765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/>
              <a:t>For the system to be statically stable the variation in damping ratio must oppose the variation in amplitude. In other words: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0CADB3A-A027-FD5D-215C-BFC2F64D70A7}"/>
                  </a:ext>
                </a:extLst>
              </p:cNvPr>
              <p:cNvSpPr txBox="1"/>
              <p:nvPr/>
            </p:nvSpPr>
            <p:spPr>
              <a:xfrm>
                <a:off x="3057390" y="4906116"/>
                <a:ext cx="6096000" cy="794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num>
                        <m:den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0CADB3A-A027-FD5D-215C-BFC2F64D7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90" y="4906116"/>
                <a:ext cx="6096000" cy="79444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135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43DC37CE-6603-3CDC-9312-6A6450CC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7A551379-DCAE-D0A8-CC43-ADA38EA457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Stability analysis - Results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B87D6359-5BFE-D299-8B81-254E20E18667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id="{773FB2D2-C82B-489D-1BE6-EB602766F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394" y="1214889"/>
            <a:ext cx="5670998" cy="42532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6E2D9FE-0212-9ED3-88C9-D90FA71AEC89}"/>
                  </a:ext>
                </a:extLst>
              </p:cNvPr>
              <p:cNvSpPr txBox="1"/>
              <p:nvPr/>
            </p:nvSpPr>
            <p:spPr>
              <a:xfrm>
                <a:off x="394085" y="1602575"/>
                <a:ext cx="5711305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LCO curve stability shows the expected behavior, where the </a:t>
                </a:r>
                <a:r>
                  <a:rPr lang="en-US" sz="2000" b="1" noProof="0" dirty="0"/>
                  <a:t>minimum velocity point </a:t>
                </a:r>
                <a:r>
                  <a:rPr lang="en-US" sz="2000" noProof="0" dirty="0"/>
                  <a:t>is the </a:t>
                </a:r>
                <a:r>
                  <a:rPr lang="en-US" sz="2000" b="1" noProof="0" dirty="0"/>
                  <a:t>first stable point</a:t>
                </a:r>
                <a:r>
                  <a:rPr lang="en-US" sz="2000" noProof="0" dirty="0"/>
                  <a:t>. 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b="1" noProof="0" dirty="0"/>
                  <a:t>Low amplitude perturbations </a:t>
                </a:r>
                <a:r>
                  <a:rPr lang="en-US" sz="2000" noProof="0" dirty="0"/>
                  <a:t>lead to </a:t>
                </a:r>
                <a:r>
                  <a:rPr lang="en-US" sz="2000" b="1" noProof="0" dirty="0"/>
                  <a:t>unstable</a:t>
                </a:r>
                <a:r>
                  <a:rPr lang="en-US" sz="2000" noProof="0" dirty="0"/>
                  <a:t> LCOs. On the other hand, sufficiently </a:t>
                </a:r>
                <a:r>
                  <a:rPr lang="en-US" sz="2000" b="1" noProof="0" dirty="0"/>
                  <a:t>large perturbations </a:t>
                </a:r>
                <a:r>
                  <a:rPr lang="en-US" sz="2000" noProof="0" dirty="0"/>
                  <a:t>will lead to a </a:t>
                </a:r>
                <a:r>
                  <a:rPr lang="en-US" sz="2000" b="1" noProof="0" dirty="0"/>
                  <a:t>self-sustained</a:t>
                </a:r>
                <a:r>
                  <a:rPr lang="en-US" sz="2000" noProof="0" dirty="0"/>
                  <a:t> LCO.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As in the previous cases, stability depends on the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000" b="1" noProof="0" dirty="0"/>
                  <a:t> ratio</a:t>
                </a:r>
                <a:r>
                  <a:rPr lang="en-US" sz="2000" noProof="0" dirty="0"/>
                  <a:t>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6E2D9FE-0212-9ED3-88C9-D90FA71AE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85" y="1602575"/>
                <a:ext cx="5711305" cy="3477875"/>
              </a:xfrm>
              <a:prstGeom prst="rect">
                <a:avLst/>
              </a:prstGeom>
              <a:blipFill rotWithShape="0">
                <a:blip r:embed="rId4"/>
                <a:stretch>
                  <a:fillRect l="-427" t="-877" r="-1067" b="-24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8A1DE92C-D3C3-2149-36AF-AA3B17ED0820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7058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8394822-2DBA-B186-351F-FA8E2AA4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48CFF8FC-6EAC-8A3C-5369-B268FCE13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Visualization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9E1DA9D8-0D54-2CB7-465E-8277F608E964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B8D258F-7D15-6F89-392E-4E2F2830068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n 7" descr="Gráfico, Gráfico de superficie&#10;&#10;El contenido generado por IA puede ser incorrecto.">
            <a:extLst>
              <a:ext uri="{FF2B5EF4-FFF2-40B4-BE49-F238E27FC236}">
                <a16:creationId xmlns:a16="http://schemas.microsoft.com/office/drawing/2014/main" id="{32A19411-28E4-BADB-150D-36311FA48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550" y="648640"/>
            <a:ext cx="5345857" cy="511197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24AD1B8-1EF9-492F-0BD6-0585E8C39CEA}"/>
              </a:ext>
            </a:extLst>
          </p:cNvPr>
          <p:cNvSpPr txBox="1"/>
          <p:nvPr/>
        </p:nvSpPr>
        <p:spPr>
          <a:xfrm>
            <a:off x="829632" y="2235132"/>
            <a:ext cx="41812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This animation shows the shape of the LCO, at the lowest speed at which it is </a:t>
            </a:r>
            <a:r>
              <a:rPr lang="en-US" sz="2000" b="1" dirty="0"/>
              <a:t>stable</a:t>
            </a:r>
            <a:r>
              <a:rPr lang="en-US" sz="2000" dirty="0"/>
              <a:t>, according to previous results. 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1 deg free play </a:t>
            </a:r>
            <a:r>
              <a:rPr lang="en-US" sz="2000" dirty="0"/>
              <a:t>in the actuator.</a:t>
            </a:r>
          </a:p>
        </p:txBody>
      </p:sp>
    </p:spTree>
    <p:extLst>
      <p:ext uri="{BB962C8B-B14F-4D97-AF65-F5344CB8AC3E}">
        <p14:creationId xmlns:p14="http://schemas.microsoft.com/office/powerpoint/2010/main" val="758876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8394822-2DBA-B186-351F-FA8E2AA4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48CFF8FC-6EAC-8A3C-5369-B268FCE13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Visualization - Scaled</a:t>
            </a:r>
            <a:br>
              <a:rPr lang="en-US" sz="2700" cap="small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9E1DA9D8-0D54-2CB7-465E-8277F608E964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B8D258F-7D15-6F89-392E-4E2F2830068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4AD1B8-1EF9-492F-0BD6-0585E8C39CEA}"/>
              </a:ext>
            </a:extLst>
          </p:cNvPr>
          <p:cNvSpPr txBox="1"/>
          <p:nvPr/>
        </p:nvSpPr>
        <p:spPr>
          <a:xfrm>
            <a:off x="743072" y="2918387"/>
            <a:ext cx="4334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Scaling the previous animation by a factor of 10 aids visualization. </a:t>
            </a:r>
          </a:p>
        </p:txBody>
      </p:sp>
      <p:pic>
        <p:nvPicPr>
          <p:cNvPr id="7" name="Imagen 6" descr="Gráfico, Gráfico de superficie&#10;&#10;El contenido generado por IA puede ser incorrecto.">
            <a:extLst>
              <a:ext uri="{FF2B5EF4-FFF2-40B4-BE49-F238E27FC236}">
                <a16:creationId xmlns:a16="http://schemas.microsoft.com/office/drawing/2014/main" id="{8202727A-5A68-DA4E-4412-BAE42C9EC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390" y="655965"/>
            <a:ext cx="5126750" cy="523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85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94F3-18AE-1367-3B57-BC5202A7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7D342FE-4439-1417-2644-F27DF69C6523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1D817B3-5B09-8AFC-F727-7D5A2A6917B2}"/>
              </a:ext>
            </a:extLst>
          </p:cNvPr>
          <p:cNvSpPr/>
          <p:nvPr/>
        </p:nvSpPr>
        <p:spPr>
          <a:xfrm>
            <a:off x="5587326" y="5830528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7" name="Google Shape;150;p1"/>
          <p:cNvSpPr txBox="1"/>
          <p:nvPr/>
        </p:nvSpPr>
        <p:spPr>
          <a:xfrm>
            <a:off x="2676763" y="3723640"/>
            <a:ext cx="6838473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2"/>
              </a:buClr>
              <a:buSzPts val="2800"/>
            </a:pPr>
            <a:r>
              <a:rPr lang="en-US" sz="36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Conclusions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024897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3CF1EEFE-B908-0EC3-005F-A1B5F4D6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789458CF-2E84-BB2C-5192-009680E96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4.1. Conclusions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F728AA89-73F6-38F5-81BB-17AE70A0E815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2A07DD-3A2A-B86F-456C-3535AB4D5404}"/>
              </a:ext>
            </a:extLst>
          </p:cNvPr>
          <p:cNvSpPr txBox="1"/>
          <p:nvPr/>
        </p:nvSpPr>
        <p:spPr>
          <a:xfrm>
            <a:off x="384694" y="1274701"/>
            <a:ext cx="1139960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/>
              <a:t>The </a:t>
            </a:r>
            <a:r>
              <a:rPr lang="en-US" sz="2000" b="1" noProof="0" dirty="0"/>
              <a:t>behavior</a:t>
            </a:r>
            <a:r>
              <a:rPr lang="en-US" sz="2000" noProof="0" dirty="0"/>
              <a:t> of the Goland Wing with free-play in the actuator identified with the DF is </a:t>
            </a:r>
            <a:r>
              <a:rPr lang="en-US" sz="2000" b="1" noProof="0" dirty="0"/>
              <a:t>subcritical</a:t>
            </a:r>
            <a:r>
              <a:rPr lang="en-US" sz="2000" noProof="0" dirty="0"/>
              <a:t>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dynamic stability analysis </a:t>
            </a:r>
            <a:r>
              <a:rPr lang="en-US" sz="2000" dirty="0"/>
              <a:t>would be required to gain a deeper understanding of the </a:t>
            </a:r>
            <a:r>
              <a:rPr lang="en-US" sz="2000" b="1" dirty="0"/>
              <a:t>stability and attractiveness of the LCOs</a:t>
            </a:r>
            <a:r>
              <a:rPr lang="en-US" sz="2000" dirty="0"/>
              <a:t>, as well as the transient behavior of the system.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Results show a</a:t>
            </a:r>
            <a:r>
              <a:rPr lang="en-US" sz="2000" noProof="0" dirty="0" err="1"/>
              <a:t>ctuator</a:t>
            </a:r>
            <a:r>
              <a:rPr lang="en-US" sz="2000" noProof="0" dirty="0"/>
              <a:t> free-</a:t>
            </a:r>
            <a:r>
              <a:rPr lang="en-US" sz="2000" dirty="0"/>
              <a:t>play should be considered in the design phase of a wing. In this case, </a:t>
            </a:r>
            <a:r>
              <a:rPr lang="en-US" sz="2000" b="1" dirty="0"/>
              <a:t>aeroelastic phenomena </a:t>
            </a:r>
            <a:r>
              <a:rPr lang="en-US" sz="2000" dirty="0"/>
              <a:t>are </a:t>
            </a:r>
            <a:r>
              <a:rPr lang="en-US" sz="2000" b="1" dirty="0"/>
              <a:t>relevant</a:t>
            </a:r>
            <a:r>
              <a:rPr lang="en-US" sz="2000" dirty="0"/>
              <a:t> starting </a:t>
            </a:r>
            <a:r>
              <a:rPr lang="en-US" sz="2000" b="1" dirty="0"/>
              <a:t>at 40 m/s</a:t>
            </a:r>
            <a:r>
              <a:rPr lang="en-US" sz="2000" dirty="0"/>
              <a:t>, while the flutter velocity of the </a:t>
            </a:r>
            <a:r>
              <a:rPr lang="en-US" sz="2000" b="1" dirty="0"/>
              <a:t>nominal system </a:t>
            </a:r>
            <a:r>
              <a:rPr lang="en-US" sz="2000" dirty="0"/>
              <a:t>without free-play is at </a:t>
            </a:r>
            <a:r>
              <a:rPr lang="en-US" sz="2000" b="1" dirty="0"/>
              <a:t>117 m/s</a:t>
            </a:r>
            <a:r>
              <a:rPr lang="en-US" sz="2000" dirty="0"/>
              <a:t>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/>
              <a:t>Using the computed sha</a:t>
            </a:r>
            <a:r>
              <a:rPr lang="en-US" sz="2000" dirty="0"/>
              <a:t>pe of the LCO, it is possible to compute its </a:t>
            </a:r>
            <a:r>
              <a:rPr lang="en-US" sz="2000" b="1" dirty="0"/>
              <a:t>effects on aircraft performance</a:t>
            </a:r>
            <a:r>
              <a:rPr lang="en-US" sz="2000" dirty="0"/>
              <a:t>, </a:t>
            </a:r>
            <a:r>
              <a:rPr lang="en-US" sz="2000" b="1" dirty="0"/>
              <a:t>lift</a:t>
            </a:r>
            <a:r>
              <a:rPr lang="en-US" sz="2000" dirty="0"/>
              <a:t> generation and </a:t>
            </a:r>
            <a:r>
              <a:rPr lang="en-US" sz="2000" b="1" dirty="0"/>
              <a:t>fatigue</a:t>
            </a:r>
            <a:r>
              <a:rPr lang="en-US" sz="2000" dirty="0"/>
              <a:t> life of the structure.</a:t>
            </a: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39CC0B-54BB-4EA5-3089-9A76D581BF0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65843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373BCB4-AB83-15F0-E625-2C9AD75B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2A88D6D4-9EAD-9547-37B8-E1F5EA6A27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Sources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C50AB6CC-3DCD-7E7D-A4E4-A735FD75D06E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631D7B-E344-049E-D353-3B3FC5094A05}"/>
              </a:ext>
            </a:extLst>
          </p:cNvPr>
          <p:cNvSpPr txBox="1"/>
          <p:nvPr/>
        </p:nvSpPr>
        <p:spPr>
          <a:xfrm>
            <a:off x="384694" y="1274701"/>
            <a:ext cx="113996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/>
              <a:t>[1] </a:t>
            </a:r>
            <a:r>
              <a:rPr lang="en-US" sz="2000" dirty="0"/>
              <a:t>Conner, Mark D., et al. "Nonlinear behavior of a typical airfoil section with control surface </a:t>
            </a:r>
            <a:r>
              <a:rPr lang="en-US" sz="2000" dirty="0" err="1"/>
              <a:t>freeplay</a:t>
            </a:r>
            <a:r>
              <a:rPr lang="en-US" sz="2000" dirty="0"/>
              <a:t>: a numerical and experimental study." Journal of Fluids and structures 11.1 (1997): 89- 109</a:t>
            </a:r>
            <a:r>
              <a:rPr lang="en-US" sz="2000" noProof="0" dirty="0"/>
              <a:t> </a:t>
            </a:r>
          </a:p>
          <a:p>
            <a:pPr algn="just">
              <a:buSzPct val="80000"/>
            </a:pP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[2] </a:t>
            </a:r>
            <a:r>
              <a:rPr lang="es-ES" sz="2000" dirty="0"/>
              <a:t>A. </a:t>
            </a:r>
            <a:r>
              <a:rPr lang="es-ES" sz="2000" dirty="0" err="1"/>
              <a:t>Gelb</a:t>
            </a:r>
            <a:r>
              <a:rPr lang="es-ES" sz="2000" dirty="0"/>
              <a:t> and W. E. Vander Velde, </a:t>
            </a:r>
            <a:r>
              <a:rPr lang="en-US" sz="2000" dirty="0"/>
              <a:t>"</a:t>
            </a:r>
            <a:r>
              <a:rPr lang="es-ES" sz="2000" dirty="0" err="1"/>
              <a:t>Multiple</a:t>
            </a:r>
            <a:r>
              <a:rPr lang="es-ES" sz="2000" dirty="0"/>
              <a:t>-Input </a:t>
            </a:r>
            <a:r>
              <a:rPr lang="es-ES" sz="2000" dirty="0" err="1"/>
              <a:t>Describing</a:t>
            </a:r>
            <a:r>
              <a:rPr lang="es-ES" sz="2000" dirty="0"/>
              <a:t> </a:t>
            </a:r>
            <a:r>
              <a:rPr lang="es-ES" sz="2000" dirty="0" err="1"/>
              <a:t>Functions</a:t>
            </a:r>
            <a:r>
              <a:rPr lang="es-ES" sz="2000" dirty="0"/>
              <a:t> and </a:t>
            </a:r>
            <a:r>
              <a:rPr lang="es-ES" sz="2000" dirty="0" err="1"/>
              <a:t>Nonlinear</a:t>
            </a:r>
            <a:r>
              <a:rPr lang="es-ES" sz="2000" dirty="0"/>
              <a:t> </a:t>
            </a:r>
            <a:r>
              <a:rPr lang="es-ES" sz="2000" dirty="0" err="1"/>
              <a:t>System</a:t>
            </a:r>
            <a:r>
              <a:rPr lang="es-ES" sz="2000" dirty="0"/>
              <a:t> </a:t>
            </a:r>
            <a:r>
              <a:rPr lang="es-ES" sz="2000" dirty="0" err="1"/>
              <a:t>Design</a:t>
            </a:r>
            <a:r>
              <a:rPr lang="es-ES" sz="2000" dirty="0"/>
              <a:t>.</a:t>
            </a:r>
            <a:r>
              <a:rPr lang="en-US" sz="2000" dirty="0"/>
              <a:t>"</a:t>
            </a:r>
            <a:r>
              <a:rPr lang="es-ES" sz="2000" dirty="0"/>
              <a:t> New York, NY, USA: McGraw-Hill, 1968.</a:t>
            </a: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84B182-E96E-81AA-DEAF-25C7F11EDDF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124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2F7EF2F5-44CA-5AFA-B017-BD3CD91C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D74024F-4D10-A12C-5A29-184B4EC8BA86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F87AA88-EED7-874E-7C98-8AB1A6B184E2}"/>
              </a:ext>
            </a:extLst>
          </p:cNvPr>
          <p:cNvSpPr/>
          <p:nvPr/>
        </p:nvSpPr>
        <p:spPr>
          <a:xfrm>
            <a:off x="5587351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2676763" y="3723640"/>
            <a:ext cx="6838473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2"/>
              </a:buClr>
              <a:buSzPts val="2800"/>
            </a:pPr>
            <a:r>
              <a:rPr lang="en-US" sz="36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Q&amp;A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761522534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78d7d4-dd0b-4055-b1a9-17fe5d740a4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4030CE45C36B4A83D9CDC536671415" ma:contentTypeVersion="17" ma:contentTypeDescription="Crear nuevo documento." ma:contentTypeScope="" ma:versionID="f60326b8b4c25fa41f58c61f6e0f6e64">
  <xsd:schema xmlns:xsd="http://www.w3.org/2001/XMLSchema" xmlns:xs="http://www.w3.org/2001/XMLSchema" xmlns:p="http://schemas.microsoft.com/office/2006/metadata/properties" xmlns:ns3="1278d7d4-dd0b-4055-b1a9-17fe5d740a4d" xmlns:ns4="5ee1f9d4-7756-44e8-a52d-17df586bfe7e" targetNamespace="http://schemas.microsoft.com/office/2006/metadata/properties" ma:root="true" ma:fieldsID="540dfc212b133c32cb979f5817de94c4" ns3:_="" ns4:_="">
    <xsd:import namespace="1278d7d4-dd0b-4055-b1a9-17fe5d740a4d"/>
    <xsd:import namespace="5ee1f9d4-7756-44e8-a52d-17df586bfe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78d7d4-dd0b-4055-b1a9-17fe5d740a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1f9d4-7756-44e8-a52d-17df586bfe7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1EDDED-CDCD-4B2F-BCED-5C86DCD8D7A9}">
  <ds:schemaRefs>
    <ds:schemaRef ds:uri="http://schemas.microsoft.com/office/2006/metadata/properties"/>
    <ds:schemaRef ds:uri="http://purl.org/dc/terms/"/>
    <ds:schemaRef ds:uri="1278d7d4-dd0b-4055-b1a9-17fe5d740a4d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5ee1f9d4-7756-44e8-a52d-17df586bfe7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D8E9DC8-A8C7-4E46-8642-F4F793EE9D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74F291-9728-4788-A539-8BFDC5F28A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78d7d4-dd0b-4055-b1a9-17fe5d740a4d"/>
    <ds:schemaRef ds:uri="5ee1f9d4-7756-44e8-a52d-17df586bfe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1636</Words>
  <Application>Microsoft Office PowerPoint</Application>
  <PresentationFormat>Panorámica</PresentationFormat>
  <Paragraphs>141</Paragraphs>
  <Slides>25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Calibri</vt:lpstr>
      <vt:lpstr>Noto Sans Symbols</vt:lpstr>
      <vt:lpstr>Arial</vt:lpstr>
      <vt:lpstr>Cambria Math</vt:lpstr>
      <vt:lpstr>Arial Black</vt:lpstr>
      <vt:lpstr>POLI</vt:lpstr>
      <vt:lpstr>Presentación de PowerPoint</vt:lpstr>
      <vt:lpstr>Presentación de PowerPoint</vt:lpstr>
      <vt:lpstr>1.1 Introduction  Free Play    </vt:lpstr>
      <vt:lpstr>1.2 Introduction  Describing function    </vt:lpstr>
      <vt:lpstr>1.2 Introduction  Describing function - 2    </vt:lpstr>
      <vt:lpstr>1.3 Introduction  Describing function - 3    </vt:lpstr>
      <vt:lpstr>Presentación de PowerPoint</vt:lpstr>
      <vt:lpstr>2.1. Resolution Methodology  Goland Wing base problem modifications    </vt:lpstr>
      <vt:lpstr>2.1. Resolution Methodology  Goland Wing base problem modifications    </vt:lpstr>
      <vt:lpstr>2.1. Resolution Methodology  Goland Wing base problem modifications    </vt:lpstr>
      <vt:lpstr>2.1. Resolution Methodology  Goland Wing equations development    </vt:lpstr>
      <vt:lpstr>2.2. Resolution Methodology  LCO Computation    </vt:lpstr>
      <vt:lpstr>Presentación de PowerPoint</vt:lpstr>
      <vt:lpstr>3.1. Results  LCO Curve    </vt:lpstr>
      <vt:lpstr>3.1. Results  LCO Curve - Amplitude      </vt:lpstr>
      <vt:lpstr>3.1. Results  LCO Curve - Frequency      </vt:lpstr>
      <vt:lpstr>3.2. Results  LCO Stability analysis - Methodology       </vt:lpstr>
      <vt:lpstr>3.2. Results  LCO Stability analysis – Methodology 2       </vt:lpstr>
      <vt:lpstr>3.2. Results  LCO Stability analysis - Results      </vt:lpstr>
      <vt:lpstr>3.2. Results  LCO Visualization      </vt:lpstr>
      <vt:lpstr>3.2. Results  LCO Visualization - Scaled       </vt:lpstr>
      <vt:lpstr>Presentación de PowerPoint</vt:lpstr>
      <vt:lpstr>4.1. Conclusions        </vt:lpstr>
      <vt:lpstr>Sources       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Alessandro Colleoni</dc:creator>
  <cp:lastModifiedBy>ALBERTO RIVERO GARCÍA</cp:lastModifiedBy>
  <cp:revision>44</cp:revision>
  <dcterms:created xsi:type="dcterms:W3CDTF">2015-05-26T12:27:57Z</dcterms:created>
  <dcterms:modified xsi:type="dcterms:W3CDTF">2026-03-24T18:27:41Z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0x0101005E4030CE45C36B4A83D9CDC536671415</vt:lpwstr>
  </property>
</Properties>
</file>